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y="6858000" cx="12192000"/>
  <p:notesSz cx="7772400" cy="10058400"/>
  <p:embeddedFontLst>
    <p:embeddedFont>
      <p:font typeface="Inter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Inter-regular.fntdata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Inter-italic.fntdata"/><Relationship Id="rId32" Type="http://schemas.openxmlformats.org/officeDocument/2006/relationships/slide" Target="slides/slide26.xml"/><Relationship Id="rId76" Type="http://schemas.openxmlformats.org/officeDocument/2006/relationships/font" Target="fonts/Inter-bold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8" Type="http://schemas.openxmlformats.org/officeDocument/2006/relationships/font" Target="fonts/Inter-bold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p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1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1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2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LIVE DEMO here (~25 min): /plan-create-prd with the one-line epic, iterate on it in the same conversation, then /plan-architecture, then /piv-slice-epic.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Then S22-S27 (~15 min) and start Exercise 2 (S28) by ~11:40, so people get going before lunch.</a:t>
            </a:r>
            <a:endParaRPr/>
          </a:p>
        </p:txBody>
      </p:sp>
      <p:sp>
        <p:nvSpPr>
          <p:cNvPr id="502" name="Google Shape;502;p2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p2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p2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p2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p2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2" name="Google Shape;592;p2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2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Start by ~11:40: branch, /prime-codebase, kick off /piv-plan-implementation before lunch. They can keep going over lunch.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13:00: implement + review. Debrief by ~13:45, then Module 3 (rules + skills).</a:t>
            </a:r>
            <a:endParaRPr/>
          </a:p>
        </p:txBody>
      </p:sp>
      <p:sp>
        <p:nvSpPr>
          <p:cNvPr id="631" name="Google Shape;631;p2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BLOCK 3 (13:00-14:30): finish Ex 2 + debrief by ~13:45 · S29-S37 rules + skills until ~14:05 · S39 Ex 3 until the 14:30 coffee (you build debug-issue live).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BLOCK 4 (14:45-17:00): S40-S41 debug demo · S42-S43 + Ex 4 (~15:00-15:20) · S45-S49 automation to ~15:40 · S53-S64 to ~16:05 · hooks if time · S65 + Q&amp;A from ~16:15.</a:t>
            </a:r>
            <a:endParaRPr/>
          </a:p>
        </p:txBody>
      </p:sp>
      <p:sp>
        <p:nvSpPr>
          <p:cNvPr id="646" name="Google Shape;646;p2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3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one line. The tax is why rules exist.</a:t>
            </a:r>
            <a:endParaRPr/>
          </a:p>
        </p:txBody>
      </p:sp>
      <p:sp>
        <p:nvSpPr>
          <p:cNvPr id="670" name="Google Shape;670;p3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9" name="Google Shape;679;p3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one line, then straight to skills.</a:t>
            </a:r>
            <a:endParaRPr/>
          </a:p>
        </p:txBody>
      </p:sp>
      <p:sp>
        <p:nvSpPr>
          <p:cNvPr id="697" name="Google Shape;697;p3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0" name="Google Shape;720;p3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they have run these all day. 10 seconds.</a:t>
            </a:r>
            <a:endParaRPr/>
          </a:p>
        </p:txBody>
      </p:sp>
      <p:sp>
        <p:nvSpPr>
          <p:cNvPr id="746" name="Google Shape;746;p3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4" name="Google Shape;754;p3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one line. Then the bridge: rules and skills are guidance; hooks are guarantees, and we come back to them at the end if there's time (S38 is hidden).</a:t>
            </a:r>
            <a:endParaRPr/>
          </a:p>
        </p:txBody>
      </p:sp>
      <p:sp>
        <p:nvSpPr>
          <p:cNvPr id="769" name="Google Shape;769;p3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2" name="Google Shape;792;p3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Checkpoint: ~14:05. ~25 min, to the 14:30 coffee. They pick their own skill; don't prescribe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YOU build your example live in FOLLOW-ALONG: /skills-create a debug-issue skill (reproduce, locate, fix, prevent). S40-S41 come after the break.</a:t>
            </a:r>
            <a:endParaRPr/>
          </a:p>
        </p:txBody>
      </p:sp>
      <p:sp>
        <p:nvSpPr>
          <p:cNvPr id="810" name="Google Shape;810;p3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After the coffee (14:45): what the skill I built before the break does: reproduce, locate, fix, prevent. Then run it (S41).</a:t>
            </a:r>
            <a:endParaRPr/>
          </a:p>
        </p:txBody>
      </p:sp>
      <p:sp>
        <p:nvSpPr>
          <p:cNvPr id="825" name="Google Shape;825;p4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Checkpoint: ~14:48. Run it in the FOLLOW-ALONG terminal (the skill lives there, on exercise-3): /debug-issue 3 (~3-5 min).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It WILL stop and ask: names unique per environment or globally? Answer: per environment, as the issue says. Rehearsed 9/28: ~2 min, 17/17 tests green.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Fallback if it misbehaves: the shipped /piv-investigate-issue 3 in STAGE DEMOS tab 2 (note: that one comments on the GitHub issue). S48 then automates a DIFFERENT bug, #5.</a:t>
            </a:r>
            <a:endParaRPr/>
          </a:p>
        </p:txBody>
      </p:sp>
      <p:sp>
        <p:nvSpPr>
          <p:cNvPr id="851" name="Google Shape;851;p4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Bridge into system evolution: every bug is feedback on the system. Straight into S43.</a:t>
            </a:r>
            <a:endParaRPr/>
          </a:p>
        </p:txBody>
      </p:sp>
      <p:sp>
        <p:nvSpPr>
          <p:cNvPr id="866" name="Google Shape;866;p4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 4 ~20 min including setup. Call time at ~15:20.</a:t>
            </a:r>
            <a:endParaRPr/>
          </a:p>
        </p:txBody>
      </p:sp>
      <p:sp>
        <p:nvSpPr>
          <p:cNvPr id="874" name="Google Shape;874;p4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0" name="Google Shape;900;p4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one sentence, or skip.</a:t>
            </a:r>
            <a:endParaRPr/>
          </a:p>
        </p:txBody>
      </p:sp>
      <p:sp>
        <p:nvSpPr>
          <p:cNvPr id="915" name="Google Shape;915;p4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Checkpoint: ~15:20. Automation ~15-20 min: uv run fix-issue.py 5 (~3 min), then CI on PR #8 with @claude-review.</a:t>
            </a:r>
            <a:endParaRPr/>
          </a:p>
        </p:txBody>
      </p:sp>
      <p:sp>
        <p:nvSpPr>
          <p:cNvPr id="932" name="Google Shape;932;p4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1" name="Google Shape;941;p4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6" name="Google Shape;966;p4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p4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6" name="Google Shape;996;p5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1" name="Google Shape;1021;p5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8" name="Google Shape;1048;p5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5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Checkpoint: ~15:40. Section 05 ~25 min, no rush. Worktrees (S60) as a recap, then priming, then subagents (S63).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Then hooks with Excal-17 if the room wants it, and leave real time for Q&amp;A.</a:t>
            </a:r>
            <a:endParaRPr/>
          </a:p>
        </p:txBody>
      </p:sp>
      <p:sp>
        <p:nvSpPr>
          <p:cNvPr id="1067" name="Google Shape;1067;p5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skip.</a:t>
            </a:r>
            <a:endParaRPr/>
          </a:p>
        </p:txBody>
      </p:sp>
      <p:sp>
        <p:nvSpPr>
          <p:cNvPr id="1076" name="Google Shape;1076;p5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3" name="Google Shape;1083;p5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9" name="Google Shape;1119;p5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4" name="Google Shape;1134;p5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5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3" name="Google Shape;1143;p5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skip, S58 already made the point.</a:t>
            </a:r>
            <a:endParaRPr/>
          </a:p>
        </p:txBody>
      </p:sp>
      <p:sp>
        <p:nvSpPr>
          <p:cNvPr id="1161" name="Google Shape;1161;p5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6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4" name="Google Shape;1184;p6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4" name="Google Shape;1204;p6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6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3" name="Google Shape;1213;p6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6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5" name="Google Shape;1235;p6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6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SHORT: skip.</a:t>
            </a:r>
            <a:endParaRPr/>
          </a:p>
        </p:txBody>
      </p:sp>
      <p:sp>
        <p:nvSpPr>
          <p:cNvPr id="1255" name="Google Shape;1255;p6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6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Checkpoint: ~16:15. Plenty of room for Q&amp;A until 17:00.</a:t>
            </a:r>
            <a:endParaRPr/>
          </a:p>
        </p:txBody>
      </p:sp>
      <p:sp>
        <p:nvSpPr>
          <p:cNvPr id="1270" name="Google Shape;1270;p6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3" name="Google Shape;1293;p6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6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9" name="Google Shape;1309;p6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6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4" name="Google Shape;1324;p6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dynamous-business/goto-copenhagen-masterclass-resourc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/>
          <p:nvPr/>
        </p:nvSpPr>
        <p:spPr>
          <a:xfrm>
            <a:off x="0" y="0"/>
            <a:ext cx="12189600" cy="135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0"/>
          <p:cNvSpPr/>
          <p:nvPr/>
        </p:nvSpPr>
        <p:spPr>
          <a:xfrm>
            <a:off x="457200" y="1920240"/>
            <a:ext cx="11275200" cy="179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Agentic Engineering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0"/>
          <p:cNvSpPr/>
          <p:nvPr/>
        </p:nvSpPr>
        <p:spPr>
          <a:xfrm>
            <a:off x="2687400" y="3658680"/>
            <a:ext cx="68144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New Software Development Lifecycle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0"/>
          <p:cNvSpPr/>
          <p:nvPr/>
        </p:nvSpPr>
        <p:spPr>
          <a:xfrm>
            <a:off x="457200" y="4663440"/>
            <a:ext cx="11274552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Cole Medin  |  Dynamous  |  GOTO Copenhagen  |  29 September 2026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1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What We'll Cover Today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1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1"/>
          <p:cNvSpPr/>
          <p:nvPr/>
        </p:nvSpPr>
        <p:spPr>
          <a:xfrm>
            <a:off x="548640" y="196596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1"/>
          <p:cNvSpPr/>
          <p:nvPr/>
        </p:nvSpPr>
        <p:spPr>
          <a:xfrm>
            <a:off x="914400" y="182880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New SDLC - Why a system, not a tool, separates the developers pulling ahead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1"/>
          <p:cNvSpPr/>
          <p:nvPr/>
        </p:nvSpPr>
        <p:spPr>
          <a:xfrm>
            <a:off x="548640" y="306324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/>
          <p:nvPr/>
        </p:nvSpPr>
        <p:spPr>
          <a:xfrm>
            <a:off x="914400" y="292608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PRD + R-PIV - From PRD to tickets to validated code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48640" y="416052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1"/>
          <p:cNvSpPr/>
          <p:nvPr/>
        </p:nvSpPr>
        <p:spPr>
          <a:xfrm>
            <a:off x="914400" y="402336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Rules &amp; Skills - Building and evolving your team's AI Layer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1"/>
          <p:cNvSpPr/>
          <p:nvPr/>
        </p:nvSpPr>
        <p:spPr>
          <a:xfrm>
            <a:off x="548640" y="525780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1"/>
          <p:cNvSpPr/>
          <p:nvPr/>
        </p:nvSpPr>
        <p:spPr>
          <a:xfrm>
            <a:off x="914400" y="512064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Automation &amp; Architecture - Five ways to say go, and codebases built for agents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2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How Today Runs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2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600120" y="169164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09:00 - 10:30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2"/>
          <p:cNvSpPr/>
          <p:nvPr/>
        </p:nvSpPr>
        <p:spPr>
          <a:xfrm>
            <a:off x="3200040" y="169164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Module 1: The New SDLC, Exercise 1 (your baseline), then install the AI Layer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2"/>
          <p:cNvSpPr/>
          <p:nvPr/>
        </p:nvSpPr>
        <p:spPr>
          <a:xfrm>
            <a:off x="500040" y="173736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2"/>
          <p:cNvSpPr/>
          <p:nvPr/>
        </p:nvSpPr>
        <p:spPr>
          <a:xfrm>
            <a:off x="600120" y="2350008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10:30 - 10:45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2"/>
          <p:cNvSpPr/>
          <p:nvPr/>
        </p:nvSpPr>
        <p:spPr>
          <a:xfrm>
            <a:off x="3200040" y="2350008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Coffee break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2"/>
          <p:cNvSpPr/>
          <p:nvPr/>
        </p:nvSpPr>
        <p:spPr>
          <a:xfrm>
            <a:off x="500040" y="2395728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2"/>
          <p:cNvSpPr/>
          <p:nvPr/>
        </p:nvSpPr>
        <p:spPr>
          <a:xfrm>
            <a:off x="600120" y="3008376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10:45 - 12:00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2"/>
          <p:cNvSpPr/>
          <p:nvPr/>
        </p:nvSpPr>
        <p:spPr>
          <a:xfrm>
            <a:off x="3200040" y="3008376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Module 2: PRD to tickets and R-PIV, then start Exercise 2 (continue over lunch)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2"/>
          <p:cNvSpPr/>
          <p:nvPr/>
        </p:nvSpPr>
        <p:spPr>
          <a:xfrm>
            <a:off x="500040" y="3054096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2"/>
          <p:cNvSpPr/>
          <p:nvPr/>
        </p:nvSpPr>
        <p:spPr>
          <a:xfrm>
            <a:off x="600120" y="3666744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12:00 - 13:00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2"/>
          <p:cNvSpPr/>
          <p:nvPr/>
        </p:nvSpPr>
        <p:spPr>
          <a:xfrm>
            <a:off x="3200040" y="3666744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Lunch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2"/>
          <p:cNvSpPr/>
          <p:nvPr/>
        </p:nvSpPr>
        <p:spPr>
          <a:xfrm>
            <a:off x="500040" y="3712463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2"/>
          <p:cNvSpPr/>
          <p:nvPr/>
        </p:nvSpPr>
        <p:spPr>
          <a:xfrm>
            <a:off x="600120" y="4325112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13:00 - 14:30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2"/>
          <p:cNvSpPr/>
          <p:nvPr/>
        </p:nvSpPr>
        <p:spPr>
          <a:xfrm>
            <a:off x="3200040" y="4325112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Finish Exercise 2, then Module 3: rules and skills, and Exercise 3 (build a skill)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2"/>
          <p:cNvSpPr/>
          <p:nvPr/>
        </p:nvSpPr>
        <p:spPr>
          <a:xfrm>
            <a:off x="500040" y="4370832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2"/>
          <p:cNvSpPr/>
          <p:nvPr/>
        </p:nvSpPr>
        <p:spPr>
          <a:xfrm>
            <a:off x="600120" y="4983479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14:30 - 14:45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2"/>
          <p:cNvSpPr/>
          <p:nvPr/>
        </p:nvSpPr>
        <p:spPr>
          <a:xfrm>
            <a:off x="3200040" y="4983479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Coffee break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2"/>
          <p:cNvSpPr/>
          <p:nvPr/>
        </p:nvSpPr>
        <p:spPr>
          <a:xfrm>
            <a:off x="500040" y="5029199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2"/>
          <p:cNvSpPr/>
          <p:nvPr/>
        </p:nvSpPr>
        <p:spPr>
          <a:xfrm>
            <a:off x="600120" y="5641848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14:45 - 17:00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2"/>
          <p:cNvSpPr/>
          <p:nvPr/>
        </p:nvSpPr>
        <p:spPr>
          <a:xfrm>
            <a:off x="3200040" y="5641848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Modules 4-5: debugging, evolving the system (Ex 4), automation, architecture, Q&amp;A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2"/>
          <p:cNvSpPr/>
          <p:nvPr/>
        </p:nvSpPr>
        <p:spPr>
          <a:xfrm>
            <a:off x="500040" y="5687568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3"/>
          <p:cNvSpPr/>
          <p:nvPr/>
        </p:nvSpPr>
        <p:spPr>
          <a:xfrm>
            <a:off x="0" y="95724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Before We Begin: Get Set Up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3"/>
          <p:cNvSpPr/>
          <p:nvPr/>
        </p:nvSpPr>
        <p:spPr>
          <a:xfrm>
            <a:off x="548640" y="187164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3"/>
          <p:cNvSpPr/>
          <p:nvPr/>
        </p:nvSpPr>
        <p:spPr>
          <a:xfrm>
            <a:off x="600120" y="234504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3"/>
          <p:cNvSpPr/>
          <p:nvPr/>
        </p:nvSpPr>
        <p:spPr>
          <a:xfrm>
            <a:off x="965880" y="225000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Git, VS Code, and Claude Code on a paid plan (Max is ideal for a full day)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3"/>
          <p:cNvSpPr/>
          <p:nvPr/>
        </p:nvSpPr>
        <p:spPr>
          <a:xfrm>
            <a:off x="600120" y="304488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3"/>
          <p:cNvSpPr/>
          <p:nvPr/>
        </p:nvSpPr>
        <p:spPr>
          <a:xfrm>
            <a:off x="965880" y="295020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Clone the resources repo: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3"/>
          <p:cNvSpPr/>
          <p:nvPr/>
        </p:nvSpPr>
        <p:spPr>
          <a:xfrm>
            <a:off x="965880" y="3590040"/>
            <a:ext cx="110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github.com/dynamous-business/goto-copenhagen-masterclass-resources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3"/>
          <p:cNvSpPr/>
          <p:nvPr/>
        </p:nvSpPr>
        <p:spPr>
          <a:xfrm>
            <a:off x="600120" y="444492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3"/>
          <p:cNvSpPr/>
          <p:nvPr/>
        </p:nvSpPr>
        <p:spPr>
          <a:xfrm>
            <a:off x="965880" y="434988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Open Claude Code in it and paste the setup prompt from the top of its README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3"/>
          <p:cNvSpPr/>
          <p:nvPr/>
        </p:nvSpPr>
        <p:spPr>
          <a:xfrm>
            <a:off x="600120" y="514512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3"/>
          <p:cNvSpPr/>
          <p:nvPr/>
        </p:nvSpPr>
        <p:spPr>
          <a:xfrm>
            <a:off x="965880" y="505008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It installs everything else and clones the exercise app (~10 min). Get stuck? Just let me know!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Promise of This Masterclass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4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4"/>
          <p:cNvSpPr/>
          <p:nvPr/>
        </p:nvSpPr>
        <p:spPr>
          <a:xfrm>
            <a:off x="4572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4"/>
          <p:cNvSpPr/>
          <p:nvPr/>
        </p:nvSpPr>
        <p:spPr>
          <a:xfrm>
            <a:off x="1230480" y="1920240"/>
            <a:ext cx="375480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What You're Experiencing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4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Vibe coding with AI feels fast initially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4"/>
          <p:cNvSpPr/>
          <p:nvPr/>
        </p:nvSpPr>
        <p:spPr>
          <a:xfrm>
            <a:off x="7315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Code quality issues compound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4"/>
          <p:cNvSpPr/>
          <p:nvPr/>
        </p:nvSpPr>
        <p:spPr>
          <a:xfrm>
            <a:off x="7315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Time lost to cleanup and refactoring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4"/>
          <p:cNvSpPr/>
          <p:nvPr/>
        </p:nvSpPr>
        <p:spPr>
          <a:xfrm>
            <a:off x="7315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Inconsistent results across sessions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4"/>
          <p:cNvSpPr/>
          <p:nvPr/>
        </p:nvSpPr>
        <p:spPr>
          <a:xfrm>
            <a:off x="64008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4"/>
          <p:cNvSpPr/>
          <p:nvPr/>
        </p:nvSpPr>
        <p:spPr>
          <a:xfrm>
            <a:off x="7867440" y="1920240"/>
            <a:ext cx="23680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What's Possible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4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Structured approach for consistent quality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4"/>
          <p:cNvSpPr/>
          <p:nvPr/>
        </p:nvSpPr>
        <p:spPr>
          <a:xfrm>
            <a:off x="66751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AI layer effectiveness compounds over time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4"/>
          <p:cNvSpPr/>
          <p:nvPr/>
        </p:nvSpPr>
        <p:spPr>
          <a:xfrm>
            <a:off x="66751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Less time fixing, more time building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4"/>
          <p:cNvSpPr/>
          <p:nvPr/>
        </p:nvSpPr>
        <p:spPr>
          <a:xfrm>
            <a:off x="66751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Reliable PRD-to-deployment pipeline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Hands-On Exercises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5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5"/>
          <p:cNvSpPr/>
          <p:nvPr/>
        </p:nvSpPr>
        <p:spPr>
          <a:xfrm>
            <a:off x="45720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5"/>
          <p:cNvSpPr/>
          <p:nvPr/>
        </p:nvSpPr>
        <p:spPr>
          <a:xfrm>
            <a:off x="457200" y="1645920"/>
            <a:ext cx="261144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5"/>
          <p:cNvSpPr/>
          <p:nvPr/>
        </p:nvSpPr>
        <p:spPr>
          <a:xfrm>
            <a:off x="71244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5"/>
          <p:cNvSpPr/>
          <p:nvPr/>
        </p:nvSpPr>
        <p:spPr>
          <a:xfrm>
            <a:off x="64008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Baseline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/>
          <p:nvPr/>
        </p:nvSpPr>
        <p:spPr>
          <a:xfrm>
            <a:off x="640080" y="3474720"/>
            <a:ext cx="224568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Apply your current AI workflow to a brownfield development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5"/>
          <p:cNvSpPr/>
          <p:nvPr/>
        </p:nvSpPr>
        <p:spPr>
          <a:xfrm>
            <a:off x="334512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5"/>
          <p:cNvSpPr/>
          <p:nvPr/>
        </p:nvSpPr>
        <p:spPr>
          <a:xfrm>
            <a:off x="3345120" y="1645920"/>
            <a:ext cx="2611440" cy="89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5"/>
          <p:cNvSpPr/>
          <p:nvPr/>
        </p:nvSpPr>
        <p:spPr>
          <a:xfrm>
            <a:off x="360036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352800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R-PIV Loop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5"/>
          <p:cNvSpPr/>
          <p:nvPr/>
        </p:nvSpPr>
        <p:spPr>
          <a:xfrm>
            <a:off x="3528000" y="3474720"/>
            <a:ext cx="224568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Run the same task through plan → implement → validate, with the AI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5"/>
          <p:cNvSpPr/>
          <p:nvPr/>
        </p:nvSpPr>
        <p:spPr>
          <a:xfrm>
            <a:off x="623304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5"/>
          <p:cNvSpPr/>
          <p:nvPr/>
        </p:nvSpPr>
        <p:spPr>
          <a:xfrm>
            <a:off x="6233040" y="1645920"/>
            <a:ext cx="2611440" cy="892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5"/>
          <p:cNvSpPr/>
          <p:nvPr/>
        </p:nvSpPr>
        <p:spPr>
          <a:xfrm>
            <a:off x="648828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5"/>
          <p:cNvSpPr/>
          <p:nvPr/>
        </p:nvSpPr>
        <p:spPr>
          <a:xfrm>
            <a:off x="6415920" y="2560320"/>
            <a:ext cx="22456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Build a Skill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5"/>
          <p:cNvSpPr/>
          <p:nvPr/>
        </p:nvSpPr>
        <p:spPr>
          <a:xfrm>
            <a:off x="6415920" y="3474720"/>
            <a:ext cx="224568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Pick something you repeat, make it a skill, and prove it fires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5"/>
          <p:cNvSpPr/>
          <p:nvPr/>
        </p:nvSpPr>
        <p:spPr>
          <a:xfrm>
            <a:off x="912096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5"/>
          <p:cNvSpPr/>
          <p:nvPr/>
        </p:nvSpPr>
        <p:spPr>
          <a:xfrm>
            <a:off x="9120960" y="1645920"/>
            <a:ext cx="261144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5"/>
          <p:cNvSpPr/>
          <p:nvPr/>
        </p:nvSpPr>
        <p:spPr>
          <a:xfrm>
            <a:off x="9376200" y="1920250"/>
            <a:ext cx="1012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5"/>
          <p:cNvSpPr/>
          <p:nvPr/>
        </p:nvSpPr>
        <p:spPr>
          <a:xfrm>
            <a:off x="930384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Evolve the System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5"/>
          <p:cNvSpPr/>
          <p:nvPr/>
        </p:nvSpPr>
        <p:spPr>
          <a:xfrm>
            <a:off x="9303840" y="3474720"/>
            <a:ext cx="224568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Scan your own R-PIV run and encode one durable fix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6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6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6"/>
          <p:cNvSpPr/>
          <p:nvPr/>
        </p:nvSpPr>
        <p:spPr>
          <a:xfrm>
            <a:off x="4754880" y="2377440"/>
            <a:ext cx="685584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New SDLC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6"/>
          <p:cNvSpPr/>
          <p:nvPr/>
        </p:nvSpPr>
        <p:spPr>
          <a:xfrm>
            <a:off x="4754880" y="3840480"/>
            <a:ext cx="6855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From PRD to Production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AI Layer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7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7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7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7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7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Global Rules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7"/>
          <p:cNvSpPr/>
          <p:nvPr/>
        </p:nvSpPr>
        <p:spPr>
          <a:xfrm>
            <a:off x="1005840" y="420624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Constraints and conventions that apply to every task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7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7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7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7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7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On-Demand Context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7"/>
          <p:cNvSpPr/>
          <p:nvPr/>
        </p:nvSpPr>
        <p:spPr>
          <a:xfrm>
            <a:off x="4389120" y="457200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Task-specific resources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loaded when needed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7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7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7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7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Skills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7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Packaged workflows/guidance with progressive disclosure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Throughout the SDLC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8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8"/>
          <p:cNvSpPr/>
          <p:nvPr/>
        </p:nvSpPr>
        <p:spPr>
          <a:xfrm>
            <a:off x="4572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8"/>
          <p:cNvSpPr/>
          <p:nvPr/>
        </p:nvSpPr>
        <p:spPr>
          <a:xfrm>
            <a:off x="1850040" y="1920240"/>
            <a:ext cx="25160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Traditional SDLC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8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PM writes PRD, BA manually creates stories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8"/>
          <p:cNvSpPr/>
          <p:nvPr/>
        </p:nvSpPr>
        <p:spPr>
          <a:xfrm>
            <a:off x="7315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Manual code review catches issues late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8"/>
          <p:cNvSpPr/>
          <p:nvPr/>
        </p:nvSpPr>
        <p:spPr>
          <a:xfrm>
            <a:off x="7315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QA creates test cases manually from PRDs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8"/>
          <p:cNvSpPr/>
          <p:nvPr/>
        </p:nvSpPr>
        <p:spPr>
          <a:xfrm>
            <a:off x="731520" y="5029200"/>
            <a:ext cx="475272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No automated security or compliance checks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8"/>
          <p:cNvSpPr/>
          <p:nvPr/>
        </p:nvSpPr>
        <p:spPr>
          <a:xfrm>
            <a:off x="64008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8"/>
          <p:cNvSpPr/>
          <p:nvPr/>
        </p:nvSpPr>
        <p:spPr>
          <a:xfrm>
            <a:off x="7907040" y="1920240"/>
            <a:ext cx="22888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AI-Native SDLC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8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AI reviews PRDs and auto-generates stories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8"/>
          <p:cNvSpPr/>
          <p:nvPr/>
        </p:nvSpPr>
        <p:spPr>
          <a:xfrm>
            <a:off x="66751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Built-in validation reduces QA burden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8"/>
          <p:cNvSpPr/>
          <p:nvPr/>
        </p:nvSpPr>
        <p:spPr>
          <a:xfrm>
            <a:off x="66751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AI code review + security in CI/CD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8"/>
          <p:cNvSpPr/>
          <p:nvPr/>
        </p:nvSpPr>
        <p:spPr>
          <a:xfrm>
            <a:off x="66751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Context compounds across the full pipeline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/>
          <p:nvPr/>
        </p:nvSpPr>
        <p:spPr>
          <a:xfrm>
            <a:off x="759960" y="1005840"/>
            <a:ext cx="1222200" cy="31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9"/>
          <p:cNvSpPr/>
          <p:nvPr/>
        </p:nvSpPr>
        <p:spPr>
          <a:xfrm>
            <a:off x="914760" y="2194560"/>
            <a:ext cx="107640" cy="2283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9"/>
          <p:cNvSpPr/>
          <p:nvPr/>
        </p:nvSpPr>
        <p:spPr>
          <a:xfrm>
            <a:off x="1829160" y="2468880"/>
            <a:ext cx="9599040" cy="15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How can AI coding assistants be simultaneously extremely capable AND disappointing for so many developers?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9"/>
          <p:cNvSpPr/>
          <p:nvPr/>
        </p:nvSpPr>
        <p:spPr>
          <a:xfrm>
            <a:off x="5288400" y="4937760"/>
            <a:ext cx="17661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- The Paradox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0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Data Tells a Story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0"/>
          <p:cNvSpPr/>
          <p:nvPr/>
        </p:nvSpPr>
        <p:spPr>
          <a:xfrm>
            <a:off x="458280" y="246888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0"/>
          <p:cNvSpPr/>
          <p:nvPr/>
        </p:nvSpPr>
        <p:spPr>
          <a:xfrm>
            <a:off x="580674" y="2775950"/>
            <a:ext cx="30075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90%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0"/>
          <p:cNvSpPr/>
          <p:nvPr/>
        </p:nvSpPr>
        <p:spPr>
          <a:xfrm>
            <a:off x="458280" y="4330440"/>
            <a:ext cx="25581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Using AI coding tools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0"/>
          <p:cNvSpPr/>
          <p:nvPr/>
        </p:nvSpPr>
        <p:spPr>
          <a:xfrm>
            <a:off x="3506748" y="2775950"/>
            <a:ext cx="28038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46%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0"/>
          <p:cNvSpPr/>
          <p:nvPr/>
        </p:nvSpPr>
        <p:spPr>
          <a:xfrm>
            <a:off x="3384360" y="4330440"/>
            <a:ext cx="25581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Distrust AI accuracy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0"/>
          <p:cNvSpPr/>
          <p:nvPr/>
        </p:nvSpPr>
        <p:spPr>
          <a:xfrm>
            <a:off x="6432851" y="2775950"/>
            <a:ext cx="2558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0"/>
          <p:cNvSpPr/>
          <p:nvPr/>
        </p:nvSpPr>
        <p:spPr>
          <a:xfrm>
            <a:off x="6310440" y="4330440"/>
            <a:ext cx="25581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Avg acceptance rate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0"/>
          <p:cNvSpPr/>
          <p:nvPr/>
        </p:nvSpPr>
        <p:spPr>
          <a:xfrm>
            <a:off x="9358920" y="2775960"/>
            <a:ext cx="2313360" cy="118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88%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0"/>
          <p:cNvSpPr/>
          <p:nvPr/>
        </p:nvSpPr>
        <p:spPr>
          <a:xfrm>
            <a:off x="9236520" y="4330440"/>
            <a:ext cx="25581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Top users' acceptance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Same Tool, Different Results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1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1"/>
          <p:cNvSpPr/>
          <p:nvPr/>
        </p:nvSpPr>
        <p:spPr>
          <a:xfrm>
            <a:off x="4572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1"/>
          <p:cNvSpPr/>
          <p:nvPr/>
        </p:nvSpPr>
        <p:spPr>
          <a:xfrm>
            <a:off x="1335600" y="1920240"/>
            <a:ext cx="35445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Developer 1 (Struggling)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1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Skips the PRD, jumps into coding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1"/>
          <p:cNvSpPr/>
          <p:nvPr/>
        </p:nvSpPr>
        <p:spPr>
          <a:xfrm>
            <a:off x="7315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No plan, no acceptance criteria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1"/>
          <p:cNvSpPr/>
          <p:nvPr/>
        </p:nvSpPr>
        <p:spPr>
          <a:xfrm>
            <a:off x="7315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No validation process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1"/>
          <p:cNvSpPr/>
          <p:nvPr/>
        </p:nvSpPr>
        <p:spPr>
          <a:xfrm>
            <a:off x="7315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Ends up fixing code for hours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1"/>
          <p:cNvSpPr/>
          <p:nvPr/>
        </p:nvSpPr>
        <p:spPr>
          <a:xfrm>
            <a:off x="64008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1"/>
          <p:cNvSpPr/>
          <p:nvPr/>
        </p:nvSpPr>
        <p:spPr>
          <a:xfrm>
            <a:off x="7431480" y="1920240"/>
            <a:ext cx="324000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Developer 2 (Thriving)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1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Starts from PRD, plans before implementing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1"/>
          <p:cNvSpPr/>
          <p:nvPr/>
        </p:nvSpPr>
        <p:spPr>
          <a:xfrm>
            <a:off x="66751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Clear tickets, rich context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1"/>
          <p:cNvSpPr/>
          <p:nvPr/>
        </p:nvSpPr>
        <p:spPr>
          <a:xfrm>
            <a:off x="66751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Reviews and validates output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1"/>
          <p:cNvSpPr/>
          <p:nvPr/>
        </p:nvSpPr>
        <p:spPr>
          <a:xfrm>
            <a:off x="66751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Evolves their AI layer over time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"/>
          <p:cNvSpPr/>
          <p:nvPr/>
        </p:nvSpPr>
        <p:spPr>
          <a:xfrm>
            <a:off x="3486240" y="1481760"/>
            <a:ext cx="526212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DIFFERENCE IS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2"/>
          <p:cNvSpPr/>
          <p:nvPr/>
        </p:nvSpPr>
        <p:spPr>
          <a:xfrm>
            <a:off x="2377440" y="2396160"/>
            <a:ext cx="747972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THE SYSTEM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2"/>
          <p:cNvSpPr/>
          <p:nvPr/>
        </p:nvSpPr>
        <p:spPr>
          <a:xfrm>
            <a:off x="2660760" y="4042080"/>
            <a:ext cx="691272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How well you build and leverage your AI layer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2"/>
          <p:cNvSpPr/>
          <p:nvPr/>
        </p:nvSpPr>
        <p:spPr>
          <a:xfrm>
            <a:off x="5051520" y="5322240"/>
            <a:ext cx="2131200" cy="70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Good News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3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3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3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3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3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Learn-able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3"/>
          <p:cNvSpPr/>
          <p:nvPr/>
        </p:nvSpPr>
        <p:spPr>
          <a:xfrm>
            <a:off x="1005840" y="420624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Build your AI layer with a systematic approach we’ll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cover today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3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3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3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3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3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Repeatable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3"/>
          <p:cNvSpPr/>
          <p:nvPr/>
        </p:nvSpPr>
        <p:spPr>
          <a:xfrm>
            <a:off x="4389120" y="457200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Your system works across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sessions and even projects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3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3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3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3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3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Evolving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3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Every bug is an opportunity to improve your AI layer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4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Exercise 1: Establish Your Baseline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4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4"/>
          <p:cNvSpPr/>
          <p:nvPr/>
        </p:nvSpPr>
        <p:spPr>
          <a:xfrm>
            <a:off x="548640" y="1828800"/>
            <a:ext cx="109706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Start your agent in the exercise app (cd ../nextjs-feature-flag-exercise):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4"/>
          <p:cNvSpPr/>
          <p:nvPr/>
        </p:nvSpPr>
        <p:spPr>
          <a:xfrm>
            <a:off x="548640" y="2560320"/>
            <a:ext cx="10970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&gt; Switch to the exercise-1 branch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4"/>
          <p:cNvSpPr/>
          <p:nvPr/>
        </p:nvSpPr>
        <p:spPr>
          <a:xfrm>
            <a:off x="548640" y="3108960"/>
            <a:ext cx="10970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&gt; Start the backend and the frontend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4"/>
          <p:cNvSpPr/>
          <p:nvPr/>
        </p:nvSpPr>
        <p:spPr>
          <a:xfrm>
            <a:off x="548640" y="3657600"/>
            <a:ext cx="10970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New session between the two (no AI Layer loaded). You prompt, the agent runs the commands.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4"/>
          <p:cNvSpPr/>
          <p:nvPr/>
        </p:nvSpPr>
        <p:spPr>
          <a:xfrm>
            <a:off x="548640" y="4480560"/>
            <a:ext cx="109706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Then build the ticket in TASK.md your usual way. How much did you delegate? Were you driving?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4"/>
          <p:cNvSpPr/>
          <p:nvPr/>
        </p:nvSpPr>
        <p:spPr>
          <a:xfrm>
            <a:off x="548640" y="5212080"/>
            <a:ext cx="10970640" cy="9126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4"/>
          <p:cNvSpPr/>
          <p:nvPr/>
        </p:nvSpPr>
        <p:spPr>
          <a:xfrm>
            <a:off x="823320" y="5487480"/>
            <a:ext cx="10422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Goal: Build filtering for feature flags using your existing workflow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5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Install the AI Layer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5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5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Prompt your agent (the same session is fine):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5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&gt; Commit my baseline, stop the dev servers, and switch to exercise-2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5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.claude/ now holds 36 skills, 5 subagents, reference guides and hook templates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5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The same AI Layer: github.com/dynamous-business/goto-copenhagen-masterclass-resources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5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Prompts, not commands: say what you want, and the agent runs the git and the servers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5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Start a NEW Claude Code session so it loads, then /prime-codebase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5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5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Goal: the AI Layer in place, and the agent primed on the codebase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6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6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6"/>
          <p:cNvSpPr/>
          <p:nvPr/>
        </p:nvSpPr>
        <p:spPr>
          <a:xfrm>
            <a:off x="4754880" y="2377440"/>
            <a:ext cx="685584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Setting the Stage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6"/>
          <p:cNvSpPr/>
          <p:nvPr/>
        </p:nvSpPr>
        <p:spPr>
          <a:xfrm>
            <a:off x="4754880" y="3840480"/>
            <a:ext cx="6855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Before the R-PIV Loop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7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PRD - Your Scope of Work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7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7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7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7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7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7"/>
          <p:cNvSpPr/>
          <p:nvPr/>
        </p:nvSpPr>
        <p:spPr>
          <a:xfrm>
            <a:off x="1005840" y="420624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Who has what problem and what's the cost of not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solving 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7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7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7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7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7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Success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7"/>
          <p:cNvSpPr/>
          <p:nvPr/>
        </p:nvSpPr>
        <p:spPr>
          <a:xfrm>
            <a:off x="4389120" y="457200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Measurable outcomes that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tell you when you're done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7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7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7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7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Phases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7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Ordered roadmap of implementation phases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8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PRD Review with AI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8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8"/>
          <p:cNvSpPr/>
          <p:nvPr/>
        </p:nvSpPr>
        <p:spPr>
          <a:xfrm>
            <a:off x="457200" y="2011680"/>
            <a:ext cx="5301360" cy="420480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8"/>
          <p:cNvSpPr/>
          <p:nvPr/>
        </p:nvSpPr>
        <p:spPr>
          <a:xfrm>
            <a:off x="1230480" y="2286000"/>
            <a:ext cx="37544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Without AI Review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8"/>
          <p:cNvSpPr/>
          <p:nvPr/>
        </p:nvSpPr>
        <p:spPr>
          <a:xfrm>
            <a:off x="731520" y="2971080"/>
            <a:ext cx="107640" cy="107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8"/>
          <p:cNvSpPr/>
          <p:nvPr/>
        </p:nvSpPr>
        <p:spPr>
          <a:xfrm>
            <a:off x="1097280" y="28760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Conflicts between requirements go unnoticed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8"/>
          <p:cNvSpPr/>
          <p:nvPr/>
        </p:nvSpPr>
        <p:spPr>
          <a:xfrm>
            <a:off x="731520" y="3471120"/>
            <a:ext cx="107640" cy="107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8"/>
          <p:cNvSpPr/>
          <p:nvPr/>
        </p:nvSpPr>
        <p:spPr>
          <a:xfrm>
            <a:off x="1097280" y="33760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Missing edge cases surface during development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8"/>
          <p:cNvSpPr/>
          <p:nvPr/>
        </p:nvSpPr>
        <p:spPr>
          <a:xfrm>
            <a:off x="731520" y="3971160"/>
            <a:ext cx="107640" cy="107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8"/>
          <p:cNvSpPr/>
          <p:nvPr/>
        </p:nvSpPr>
        <p:spPr>
          <a:xfrm>
            <a:off x="1097280" y="387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Ambiguous acceptance criteria cause rework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8"/>
          <p:cNvSpPr/>
          <p:nvPr/>
        </p:nvSpPr>
        <p:spPr>
          <a:xfrm>
            <a:off x="731520" y="4471200"/>
            <a:ext cx="107640" cy="107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8"/>
          <p:cNvSpPr/>
          <p:nvPr/>
        </p:nvSpPr>
        <p:spPr>
          <a:xfrm>
            <a:off x="1097280" y="437616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Ping-pong between PM, BA, and dev teams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8"/>
          <p:cNvSpPr/>
          <p:nvPr/>
        </p:nvSpPr>
        <p:spPr>
          <a:xfrm>
            <a:off x="6400800" y="2011680"/>
            <a:ext cx="5301360" cy="420480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8"/>
          <p:cNvSpPr/>
          <p:nvPr/>
        </p:nvSpPr>
        <p:spPr>
          <a:xfrm>
            <a:off x="7867440" y="2286000"/>
            <a:ext cx="236772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With AI Review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8"/>
          <p:cNvSpPr/>
          <p:nvPr/>
        </p:nvSpPr>
        <p:spPr>
          <a:xfrm>
            <a:off x="6675120" y="297108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8"/>
          <p:cNvSpPr/>
          <p:nvPr/>
        </p:nvSpPr>
        <p:spPr>
          <a:xfrm>
            <a:off x="7040880" y="28760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AI catches requirement conflicts automatically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8"/>
          <p:cNvSpPr/>
          <p:nvPr/>
        </p:nvSpPr>
        <p:spPr>
          <a:xfrm>
            <a:off x="6675120" y="347112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8"/>
          <p:cNvSpPr/>
          <p:nvPr/>
        </p:nvSpPr>
        <p:spPr>
          <a:xfrm>
            <a:off x="7040880" y="33760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Edge cases flagged before development starts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8"/>
          <p:cNvSpPr/>
          <p:nvPr/>
        </p:nvSpPr>
        <p:spPr>
          <a:xfrm>
            <a:off x="6675120" y="397116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58"/>
          <p:cNvSpPr/>
          <p:nvPr/>
        </p:nvSpPr>
        <p:spPr>
          <a:xfrm>
            <a:off x="7040880" y="387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Acceptance criteria validated for test-ability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8"/>
          <p:cNvSpPr/>
          <p:nvPr/>
        </p:nvSpPr>
        <p:spPr>
          <a:xfrm>
            <a:off x="6675120" y="447120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8"/>
          <p:cNvSpPr/>
          <p:nvPr/>
        </p:nvSpPr>
        <p:spPr>
          <a:xfrm>
            <a:off x="7040880" y="437616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Shorter feedback loop, cleaner handoff to dev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Greenfield vs Brownfield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9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9"/>
          <p:cNvSpPr/>
          <p:nvPr/>
        </p:nvSpPr>
        <p:spPr>
          <a:xfrm>
            <a:off x="4572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9"/>
          <p:cNvSpPr/>
          <p:nvPr/>
        </p:nvSpPr>
        <p:spPr>
          <a:xfrm>
            <a:off x="457200" y="1645920"/>
            <a:ext cx="5301360" cy="892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9"/>
          <p:cNvSpPr/>
          <p:nvPr/>
        </p:nvSpPr>
        <p:spPr>
          <a:xfrm>
            <a:off x="1296720" y="1920240"/>
            <a:ext cx="362232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Greenfield (New Project)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9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Start with template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9"/>
          <p:cNvSpPr/>
          <p:nvPr/>
        </p:nvSpPr>
        <p:spPr>
          <a:xfrm>
            <a:off x="731520" y="324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Create PRD first (plan-create-prd)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9"/>
          <p:cNvSpPr/>
          <p:nvPr/>
        </p:nvSpPr>
        <p:spPr>
          <a:xfrm>
            <a:off x="731520" y="39319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Establish global rules (rules-create-global)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9"/>
          <p:cNvSpPr/>
          <p:nvPr/>
        </p:nvSpPr>
        <p:spPr>
          <a:xfrm>
            <a:off x="731520" y="46177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Build on-demand context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9"/>
          <p:cNvSpPr/>
          <p:nvPr/>
        </p:nvSpPr>
        <p:spPr>
          <a:xfrm>
            <a:off x="731520" y="53035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Create skills as you go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9"/>
          <p:cNvSpPr/>
          <p:nvPr/>
        </p:nvSpPr>
        <p:spPr>
          <a:xfrm>
            <a:off x="64008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9"/>
          <p:cNvSpPr/>
          <p:nvPr/>
        </p:nvSpPr>
        <p:spPr>
          <a:xfrm>
            <a:off x="6400800" y="1645920"/>
            <a:ext cx="5301360" cy="89280"/>
          </a:xfrm>
          <a:prstGeom prst="rect">
            <a:avLst/>
          </a:prstGeom>
          <a:solidFill>
            <a:srgbClr val="A1620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9"/>
          <p:cNvSpPr/>
          <p:nvPr/>
        </p:nvSpPr>
        <p:spPr>
          <a:xfrm>
            <a:off x="7505640" y="1920240"/>
            <a:ext cx="30920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16207"/>
                </a:solidFill>
                <a:latin typeface="Inter"/>
                <a:ea typeface="Inter"/>
                <a:cs typeface="Inter"/>
                <a:sym typeface="Inter"/>
              </a:rPr>
              <a:t>Brownfield (Existing)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9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Understand existing codebase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9"/>
          <p:cNvSpPr/>
          <p:nvPr/>
        </p:nvSpPr>
        <p:spPr>
          <a:xfrm>
            <a:off x="6675120" y="324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Extract rules from patterns (rules-create-global)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9"/>
          <p:cNvSpPr/>
          <p:nvPr/>
        </p:nvSpPr>
        <p:spPr>
          <a:xfrm>
            <a:off x="6675120" y="39319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Document architecture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9"/>
          <p:cNvSpPr/>
          <p:nvPr/>
        </p:nvSpPr>
        <p:spPr>
          <a:xfrm>
            <a:off x="6675120" y="46177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Create skills for common tasks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9"/>
          <p:cNvSpPr/>
          <p:nvPr/>
        </p:nvSpPr>
        <p:spPr>
          <a:xfrm>
            <a:off x="6675120" y="53035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Slice work into tickets (piv-slice-epic)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0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From PRD to Tickets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0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0"/>
          <p:cNvSpPr/>
          <p:nvPr/>
        </p:nvSpPr>
        <p:spPr>
          <a:xfrm>
            <a:off x="548640" y="1919880"/>
            <a:ext cx="261396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0"/>
          <p:cNvSpPr/>
          <p:nvPr/>
        </p:nvSpPr>
        <p:spPr>
          <a:xfrm>
            <a:off x="72864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60"/>
          <p:cNvSpPr/>
          <p:nvPr/>
        </p:nvSpPr>
        <p:spPr>
          <a:xfrm>
            <a:off x="728640" y="2620080"/>
            <a:ext cx="22539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PRD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60"/>
          <p:cNvSpPr/>
          <p:nvPr/>
        </p:nvSpPr>
        <p:spPr>
          <a:xfrm>
            <a:off x="728640" y="3219840"/>
            <a:ext cx="225396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plan-create-prd interviews you into a problem-first PRD; AI reviews it for gaps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0"/>
          <p:cNvSpPr/>
          <p:nvPr/>
        </p:nvSpPr>
        <p:spPr>
          <a:xfrm>
            <a:off x="3343680" y="1919880"/>
            <a:ext cx="261396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0"/>
          <p:cNvSpPr/>
          <p:nvPr/>
        </p:nvSpPr>
        <p:spPr>
          <a:xfrm>
            <a:off x="352368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0"/>
          <p:cNvSpPr/>
          <p:nvPr/>
        </p:nvSpPr>
        <p:spPr>
          <a:xfrm>
            <a:off x="3523680" y="2620080"/>
            <a:ext cx="22539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0"/>
          <p:cNvSpPr/>
          <p:nvPr/>
        </p:nvSpPr>
        <p:spPr>
          <a:xfrm>
            <a:off x="3523680" y="3219840"/>
            <a:ext cx="225396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plan-architecture grounds it in the codebase: approach, data shape, one-way doors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0"/>
          <p:cNvSpPr/>
          <p:nvPr/>
        </p:nvSpPr>
        <p:spPr>
          <a:xfrm>
            <a:off x="6138720" y="1919880"/>
            <a:ext cx="261396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60"/>
          <p:cNvSpPr/>
          <p:nvPr/>
        </p:nvSpPr>
        <p:spPr>
          <a:xfrm>
            <a:off x="631872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0"/>
          <p:cNvSpPr/>
          <p:nvPr/>
        </p:nvSpPr>
        <p:spPr>
          <a:xfrm>
            <a:off x="6318720" y="2620080"/>
            <a:ext cx="22539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Slice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0"/>
          <p:cNvSpPr/>
          <p:nvPr/>
        </p:nvSpPr>
        <p:spPr>
          <a:xfrm>
            <a:off x="6318720" y="3219840"/>
            <a:ext cx="225396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piv-slice-epic cuts PIV-sized tickets with a dependency graph, to your tracker or Markdown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0"/>
          <p:cNvSpPr/>
          <p:nvPr/>
        </p:nvSpPr>
        <p:spPr>
          <a:xfrm>
            <a:off x="8933760" y="1919880"/>
            <a:ext cx="261396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0"/>
          <p:cNvSpPr/>
          <p:nvPr/>
        </p:nvSpPr>
        <p:spPr>
          <a:xfrm>
            <a:off x="911376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0"/>
          <p:cNvSpPr/>
          <p:nvPr/>
        </p:nvSpPr>
        <p:spPr>
          <a:xfrm>
            <a:off x="9113760" y="2620080"/>
            <a:ext cx="22539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0"/>
          <p:cNvSpPr/>
          <p:nvPr/>
        </p:nvSpPr>
        <p:spPr>
          <a:xfrm>
            <a:off x="9113760" y="3219840"/>
            <a:ext cx="225396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Team reviews tickets against the PRD before starting development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1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1"/>
          <p:cNvSpPr/>
          <p:nvPr/>
        </p:nvSpPr>
        <p:spPr>
          <a:xfrm>
            <a:off x="767160" y="2560320"/>
            <a:ext cx="2578320" cy="161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PIV</a:t>
            </a:r>
            <a:endParaRPr b="0" i="0" sz="1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1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1"/>
          <p:cNvSpPr/>
          <p:nvPr/>
        </p:nvSpPr>
        <p:spPr>
          <a:xfrm>
            <a:off x="4754880" y="2194560"/>
            <a:ext cx="685584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R-PIV Loop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1"/>
          <p:cNvSpPr/>
          <p:nvPr/>
        </p:nvSpPr>
        <p:spPr>
          <a:xfrm>
            <a:off x="4754880" y="3657600"/>
            <a:ext cx="68558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Research - Plan - Implement - Validate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2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Core Mental Model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2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2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2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2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2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Plan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62"/>
          <p:cNvSpPr/>
          <p:nvPr/>
        </p:nvSpPr>
        <p:spPr>
          <a:xfrm>
            <a:off x="1005840" y="420624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Reduce agent assumptions through explicit planning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2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2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2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2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2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Implement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2"/>
          <p:cNvSpPr/>
          <p:nvPr/>
        </p:nvSpPr>
        <p:spPr>
          <a:xfrm>
            <a:off x="4389120" y="457200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Trust but verify – delegate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coding to the 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62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62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62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62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62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Validate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62"/>
          <p:cNvSpPr/>
          <p:nvPr/>
        </p:nvSpPr>
        <p:spPr>
          <a:xfrm>
            <a:off x="7772400" y="402336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Catch issues before they compound (and let the agent do the same)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Two Layers of Planning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63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3"/>
          <p:cNvSpPr/>
          <p:nvPr/>
        </p:nvSpPr>
        <p:spPr>
          <a:xfrm>
            <a:off x="4572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63"/>
          <p:cNvSpPr/>
          <p:nvPr/>
        </p:nvSpPr>
        <p:spPr>
          <a:xfrm>
            <a:off x="1273320" y="1920240"/>
            <a:ext cx="36694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Layer 1: Project Planning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63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Done once, updated rarely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3"/>
          <p:cNvSpPr/>
          <p:nvPr/>
        </p:nvSpPr>
        <p:spPr>
          <a:xfrm>
            <a:off x="731520" y="324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Tech stack decisions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63"/>
          <p:cNvSpPr/>
          <p:nvPr/>
        </p:nvSpPr>
        <p:spPr>
          <a:xfrm>
            <a:off x="731520" y="39319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Architecture patterns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3"/>
          <p:cNvSpPr/>
          <p:nvPr/>
        </p:nvSpPr>
        <p:spPr>
          <a:xfrm>
            <a:off x="731520" y="46177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Rules: constraints + conventions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3"/>
          <p:cNvSpPr/>
          <p:nvPr/>
        </p:nvSpPr>
        <p:spPr>
          <a:xfrm>
            <a:off x="731520" y="53035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Creating stable resources (including PRD)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3"/>
          <p:cNvSpPr/>
          <p:nvPr/>
        </p:nvSpPr>
        <p:spPr>
          <a:xfrm>
            <a:off x="64008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3"/>
          <p:cNvSpPr/>
          <p:nvPr/>
        </p:nvSpPr>
        <p:spPr>
          <a:xfrm>
            <a:off x="7388280" y="1920240"/>
            <a:ext cx="33267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Layer 2: Task Planning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3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Per feature or task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3"/>
          <p:cNvSpPr/>
          <p:nvPr/>
        </p:nvSpPr>
        <p:spPr>
          <a:xfrm>
            <a:off x="6675120" y="324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Codebase analysis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63"/>
          <p:cNvSpPr/>
          <p:nvPr/>
        </p:nvSpPr>
        <p:spPr>
          <a:xfrm>
            <a:off x="6675120" y="39319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Implementation approach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3"/>
          <p:cNvSpPr/>
          <p:nvPr/>
        </p:nvSpPr>
        <p:spPr>
          <a:xfrm>
            <a:off x="6675120" y="46177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Testing strategy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63"/>
          <p:cNvSpPr/>
          <p:nvPr/>
        </p:nvSpPr>
        <p:spPr>
          <a:xfrm>
            <a:off x="6675120" y="53035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Map to tickets with acceptance criteria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4"/>
          <p:cNvSpPr/>
          <p:nvPr/>
        </p:nvSpPr>
        <p:spPr>
          <a:xfrm>
            <a:off x="4115520" y="1555200"/>
            <a:ext cx="3655440" cy="36554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4"/>
          <p:cNvSpPr/>
          <p:nvPr/>
        </p:nvSpPr>
        <p:spPr>
          <a:xfrm>
            <a:off x="4115520" y="2652480"/>
            <a:ext cx="3655440" cy="51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Detailed Plan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4"/>
          <p:cNvSpPr/>
          <p:nvPr/>
        </p:nvSpPr>
        <p:spPr>
          <a:xfrm>
            <a:off x="4115520" y="3841200"/>
            <a:ext cx="36554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Context Engineering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4"/>
          <p:cNvSpPr/>
          <p:nvPr/>
        </p:nvSpPr>
        <p:spPr>
          <a:xfrm>
            <a:off x="3108960" y="1554480"/>
            <a:ext cx="729360" cy="72936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64"/>
          <p:cNvSpPr/>
          <p:nvPr/>
        </p:nvSpPr>
        <p:spPr>
          <a:xfrm>
            <a:off x="2651760" y="2468880"/>
            <a:ext cx="16437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Prompts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64"/>
          <p:cNvSpPr/>
          <p:nvPr/>
        </p:nvSpPr>
        <p:spPr>
          <a:xfrm>
            <a:off x="7772400" y="1188720"/>
            <a:ext cx="729360" cy="72936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64"/>
          <p:cNvSpPr/>
          <p:nvPr/>
        </p:nvSpPr>
        <p:spPr>
          <a:xfrm>
            <a:off x="7315200" y="2103120"/>
            <a:ext cx="16437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RAG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64"/>
          <p:cNvSpPr/>
          <p:nvPr/>
        </p:nvSpPr>
        <p:spPr>
          <a:xfrm>
            <a:off x="3109680" y="4480560"/>
            <a:ext cx="729360" cy="72936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4"/>
          <p:cNvSpPr/>
          <p:nvPr/>
        </p:nvSpPr>
        <p:spPr>
          <a:xfrm>
            <a:off x="2652480" y="5394960"/>
            <a:ext cx="164376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Memory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64"/>
          <p:cNvSpPr/>
          <p:nvPr/>
        </p:nvSpPr>
        <p:spPr>
          <a:xfrm>
            <a:off x="8046720" y="3840480"/>
            <a:ext cx="729360" cy="72936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4"/>
          <p:cNvSpPr/>
          <p:nvPr/>
        </p:nvSpPr>
        <p:spPr>
          <a:xfrm>
            <a:off x="7589520" y="4754880"/>
            <a:ext cx="164376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Task Management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/>
          <p:nvPr/>
        </p:nvSpPr>
        <p:spPr>
          <a:xfrm>
            <a:off x="760320" y="1098720"/>
            <a:ext cx="1222200" cy="31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65"/>
          <p:cNvSpPr/>
          <p:nvPr/>
        </p:nvSpPr>
        <p:spPr>
          <a:xfrm>
            <a:off x="915120" y="2287440"/>
            <a:ext cx="107640" cy="2283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5"/>
          <p:cNvSpPr/>
          <p:nvPr/>
        </p:nvSpPr>
        <p:spPr>
          <a:xfrm>
            <a:off x="1829520" y="2563920"/>
            <a:ext cx="9599040" cy="15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Let the agent do the coding, but monitor to make sure it understands the plan and validates its work.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65"/>
          <p:cNvSpPr/>
          <p:nvPr/>
        </p:nvSpPr>
        <p:spPr>
          <a:xfrm>
            <a:off x="5119560" y="5030640"/>
            <a:ext cx="210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- Trust But Verify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6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Validation Layers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6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6"/>
          <p:cNvSpPr/>
          <p:nvPr/>
        </p:nvSpPr>
        <p:spPr>
          <a:xfrm>
            <a:off x="274320" y="1645920"/>
            <a:ext cx="218016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6"/>
          <p:cNvSpPr/>
          <p:nvPr/>
        </p:nvSpPr>
        <p:spPr>
          <a:xfrm>
            <a:off x="274320" y="1645920"/>
            <a:ext cx="218016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6"/>
          <p:cNvSpPr/>
          <p:nvPr/>
        </p:nvSpPr>
        <p:spPr>
          <a:xfrm>
            <a:off x="1206000" y="1874520"/>
            <a:ext cx="31680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6"/>
          <p:cNvSpPr/>
          <p:nvPr/>
        </p:nvSpPr>
        <p:spPr>
          <a:xfrm>
            <a:off x="391680" y="2243160"/>
            <a:ext cx="1984320" cy="5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Type Checking/Linting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6"/>
          <p:cNvSpPr/>
          <p:nvPr/>
        </p:nvSpPr>
        <p:spPr>
          <a:xfrm>
            <a:off x="411480" y="3108960"/>
            <a:ext cx="19058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AI runs linting and type checking after changes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6"/>
          <p:cNvSpPr/>
          <p:nvPr/>
        </p:nvSpPr>
        <p:spPr>
          <a:xfrm>
            <a:off x="2639520" y="1645920"/>
            <a:ext cx="218016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6"/>
          <p:cNvSpPr/>
          <p:nvPr/>
        </p:nvSpPr>
        <p:spPr>
          <a:xfrm>
            <a:off x="2639520" y="1645920"/>
            <a:ext cx="218016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6"/>
          <p:cNvSpPr/>
          <p:nvPr/>
        </p:nvSpPr>
        <p:spPr>
          <a:xfrm>
            <a:off x="3571200" y="1874520"/>
            <a:ext cx="31680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66"/>
          <p:cNvSpPr/>
          <p:nvPr/>
        </p:nvSpPr>
        <p:spPr>
          <a:xfrm>
            <a:off x="2776680" y="2286000"/>
            <a:ext cx="190584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Unit Tests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6"/>
          <p:cNvSpPr/>
          <p:nvPr/>
        </p:nvSpPr>
        <p:spPr>
          <a:xfrm>
            <a:off x="2776680" y="3108960"/>
            <a:ext cx="190584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AI runs automated test suites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66"/>
          <p:cNvSpPr/>
          <p:nvPr/>
        </p:nvSpPr>
        <p:spPr>
          <a:xfrm>
            <a:off x="5004720" y="1645920"/>
            <a:ext cx="218016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6"/>
          <p:cNvSpPr/>
          <p:nvPr/>
        </p:nvSpPr>
        <p:spPr>
          <a:xfrm>
            <a:off x="5004720" y="1645920"/>
            <a:ext cx="218016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66"/>
          <p:cNvSpPr/>
          <p:nvPr/>
        </p:nvSpPr>
        <p:spPr>
          <a:xfrm>
            <a:off x="5936400" y="1874520"/>
            <a:ext cx="31680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6"/>
          <p:cNvSpPr/>
          <p:nvPr/>
        </p:nvSpPr>
        <p:spPr>
          <a:xfrm>
            <a:off x="5120640" y="2286000"/>
            <a:ext cx="206424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Integration Tests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6"/>
          <p:cNvSpPr/>
          <p:nvPr/>
        </p:nvSpPr>
        <p:spPr>
          <a:xfrm>
            <a:off x="5141880" y="3108960"/>
            <a:ext cx="190584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AI drives the app end to end (agent-browser)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66"/>
          <p:cNvSpPr/>
          <p:nvPr/>
        </p:nvSpPr>
        <p:spPr>
          <a:xfrm>
            <a:off x="7369920" y="1645920"/>
            <a:ext cx="218016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6"/>
          <p:cNvSpPr/>
          <p:nvPr/>
        </p:nvSpPr>
        <p:spPr>
          <a:xfrm>
            <a:off x="7369920" y="1645920"/>
            <a:ext cx="218016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6"/>
          <p:cNvSpPr/>
          <p:nvPr/>
        </p:nvSpPr>
        <p:spPr>
          <a:xfrm>
            <a:off x="8127360" y="1874520"/>
            <a:ext cx="66564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Human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66"/>
          <p:cNvSpPr/>
          <p:nvPr/>
        </p:nvSpPr>
        <p:spPr>
          <a:xfrm>
            <a:off x="7507080" y="2286000"/>
            <a:ext cx="190584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Code Review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66"/>
          <p:cNvSpPr/>
          <p:nvPr/>
        </p:nvSpPr>
        <p:spPr>
          <a:xfrm>
            <a:off x="7507080" y="3108960"/>
            <a:ext cx="190584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Human + AI review in a fresh context (piv-review-changes)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6"/>
          <p:cNvSpPr/>
          <p:nvPr/>
        </p:nvSpPr>
        <p:spPr>
          <a:xfrm>
            <a:off x="9735120" y="1645920"/>
            <a:ext cx="218016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6"/>
          <p:cNvSpPr/>
          <p:nvPr/>
        </p:nvSpPr>
        <p:spPr>
          <a:xfrm>
            <a:off x="9735120" y="1645920"/>
            <a:ext cx="218016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6"/>
          <p:cNvSpPr/>
          <p:nvPr/>
        </p:nvSpPr>
        <p:spPr>
          <a:xfrm>
            <a:off x="10492560" y="1874520"/>
            <a:ext cx="66564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Human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66"/>
          <p:cNvSpPr/>
          <p:nvPr/>
        </p:nvSpPr>
        <p:spPr>
          <a:xfrm>
            <a:off x="9872280" y="2286000"/>
            <a:ext cx="190584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Manual Tests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66"/>
          <p:cNvSpPr/>
          <p:nvPr/>
        </p:nvSpPr>
        <p:spPr>
          <a:xfrm>
            <a:off x="9872280" y="3108960"/>
            <a:ext cx="190584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We verify through hands-on testing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7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67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Exercise 2: The Same Ticket, Through R-PIV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67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67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Prompt your agent to cut your own branch, then run the loop (approve when a skill writes to .claude/):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7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&gt; Create a new branch called my-rpiv and switch to 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67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/prime-codebase, then /piv-plan-implementation with the ticket - and tighten its validation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7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Commit the plan, then /piv-implement &lt;plan&gt; in a NEW session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67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Review in another new session: /piv-review-changes - the agent doesn't grade its own homework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67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While it runs: /worktree-create a second ticket and plan it in parallel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67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7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Goal: the same filtering feature, planned, implemented and validated - then compare with your baseline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8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8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8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68"/>
          <p:cNvSpPr/>
          <p:nvPr/>
        </p:nvSpPr>
        <p:spPr>
          <a:xfrm>
            <a:off x="4754880" y="2377440"/>
            <a:ext cx="685584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Foundations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68"/>
          <p:cNvSpPr/>
          <p:nvPr/>
        </p:nvSpPr>
        <p:spPr>
          <a:xfrm>
            <a:off x="4754880" y="3840480"/>
            <a:ext cx="6855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Building Your AI Layer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9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69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Global Rules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69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69"/>
          <p:cNvSpPr/>
          <p:nvPr/>
        </p:nvSpPr>
        <p:spPr>
          <a:xfrm>
            <a:off x="548640" y="196596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69"/>
          <p:cNvSpPr/>
          <p:nvPr/>
        </p:nvSpPr>
        <p:spPr>
          <a:xfrm>
            <a:off x="914400" y="182880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Your day 1 onboarding for AI coding assistants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69"/>
          <p:cNvSpPr/>
          <p:nvPr/>
        </p:nvSpPr>
        <p:spPr>
          <a:xfrm>
            <a:off x="548640" y="306324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69"/>
          <p:cNvSpPr/>
          <p:nvPr/>
        </p:nvSpPr>
        <p:spPr>
          <a:xfrm>
            <a:off x="914400" y="292608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CLAUDE.md for Claude Code, AGENTS.md becoming universal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69"/>
          <p:cNvSpPr/>
          <p:nvPr/>
        </p:nvSpPr>
        <p:spPr>
          <a:xfrm>
            <a:off x="548640" y="416052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69"/>
          <p:cNvSpPr/>
          <p:nvPr/>
        </p:nvSpPr>
        <p:spPr>
          <a:xfrm>
            <a:off x="914400" y="402336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Auto-loaded every session - no manual context setup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9"/>
          <p:cNvSpPr/>
          <p:nvPr/>
        </p:nvSpPr>
        <p:spPr>
          <a:xfrm>
            <a:off x="548640" y="525780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9"/>
          <p:cNvSpPr/>
          <p:nvPr/>
        </p:nvSpPr>
        <p:spPr>
          <a:xfrm>
            <a:off x="914400" y="512064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Team-wide standards that ensure consistent output across all engineers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0"/>
          <p:cNvSpPr/>
          <p:nvPr/>
        </p:nvSpPr>
        <p:spPr>
          <a:xfrm>
            <a:off x="-1828800" y="3657600"/>
            <a:ext cx="5484240" cy="3655440"/>
          </a:xfrm>
          <a:prstGeom prst="parallelogram">
            <a:avLst>
              <a:gd fmla="val 25000" name="adj"/>
            </a:avLst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0"/>
          <p:cNvSpPr/>
          <p:nvPr/>
        </p:nvSpPr>
        <p:spPr>
          <a:xfrm>
            <a:off x="-2743200" y="5029200"/>
            <a:ext cx="4569840" cy="2741040"/>
          </a:xfrm>
          <a:prstGeom prst="parallelogram">
            <a:avLst>
              <a:gd fmla="val 25000" name="adj"/>
            </a:avLst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4114800" y="1828800"/>
            <a:ext cx="7587360" cy="167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Context Loading Tax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70"/>
          <p:cNvSpPr/>
          <p:nvPr/>
        </p:nvSpPr>
        <p:spPr>
          <a:xfrm>
            <a:off x="4114800" y="3840480"/>
            <a:ext cx="75873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5-10 min EVERY session vs 30-60 min ONCE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70"/>
          <p:cNvSpPr/>
          <p:nvPr/>
        </p:nvSpPr>
        <p:spPr>
          <a:xfrm>
            <a:off x="11277360" y="0"/>
            <a:ext cx="912240" cy="912240"/>
          </a:xfrm>
          <a:prstGeom prst="rtTriangl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1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What to Include vs NOT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71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71"/>
          <p:cNvSpPr/>
          <p:nvPr/>
        </p:nvSpPr>
        <p:spPr>
          <a:xfrm>
            <a:off x="4572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71"/>
          <p:cNvSpPr/>
          <p:nvPr/>
        </p:nvSpPr>
        <p:spPr>
          <a:xfrm>
            <a:off x="1419480" y="1920240"/>
            <a:ext cx="33771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Include in Global Rules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71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Tech stack &amp; architecture overview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71"/>
          <p:cNvSpPr/>
          <p:nvPr/>
        </p:nvSpPr>
        <p:spPr>
          <a:xfrm>
            <a:off x="7315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Code style conventions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71"/>
          <p:cNvSpPr/>
          <p:nvPr/>
        </p:nvSpPr>
        <p:spPr>
          <a:xfrm>
            <a:off x="7315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Testing/logging requirements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71"/>
          <p:cNvSpPr/>
          <p:nvPr/>
        </p:nvSpPr>
        <p:spPr>
          <a:xfrm>
            <a:off x="7315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Common misconceptions you’ve seen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71"/>
          <p:cNvSpPr/>
          <p:nvPr/>
        </p:nvSpPr>
        <p:spPr>
          <a:xfrm>
            <a:off x="64008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71"/>
          <p:cNvSpPr/>
          <p:nvPr/>
        </p:nvSpPr>
        <p:spPr>
          <a:xfrm>
            <a:off x="8047440" y="1920240"/>
            <a:ext cx="20084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Don't Include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71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Universal knowledge (language basics)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71"/>
          <p:cNvSpPr/>
          <p:nvPr/>
        </p:nvSpPr>
        <p:spPr>
          <a:xfrm>
            <a:off x="66751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Detailed workflows (use skills)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71"/>
          <p:cNvSpPr/>
          <p:nvPr/>
        </p:nvSpPr>
        <p:spPr>
          <a:xfrm>
            <a:off x="66751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Task-specific details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71"/>
          <p:cNvSpPr/>
          <p:nvPr/>
        </p:nvSpPr>
        <p:spPr>
          <a:xfrm>
            <a:off x="66751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Temporary instructions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2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On-Demand Context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72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72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72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72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72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Task Rules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72"/>
          <p:cNvSpPr/>
          <p:nvPr/>
        </p:nvSpPr>
        <p:spPr>
          <a:xfrm>
            <a:off x="960840" y="420624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Frontend best practices, API patterns, DB conventions, etc.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72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72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72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72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72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Referenced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2"/>
          <p:cNvSpPr/>
          <p:nvPr/>
        </p:nvSpPr>
        <p:spPr>
          <a:xfrm>
            <a:off x="4389120" y="457200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Paths in CLAUDE.md or skills to load when relevant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72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72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72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2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72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Via Skills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72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Progressive disclosure keeps context focused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3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Skills - Progressive Disclosure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73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73"/>
          <p:cNvSpPr/>
          <p:nvPr/>
        </p:nvSpPr>
        <p:spPr>
          <a:xfrm>
            <a:off x="45720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73"/>
          <p:cNvSpPr/>
          <p:nvPr/>
        </p:nvSpPr>
        <p:spPr>
          <a:xfrm>
            <a:off x="457200" y="1645920"/>
            <a:ext cx="261144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73"/>
          <p:cNvSpPr/>
          <p:nvPr/>
        </p:nvSpPr>
        <p:spPr>
          <a:xfrm>
            <a:off x="1432440" y="1874520"/>
            <a:ext cx="66132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Tier 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73"/>
          <p:cNvSpPr/>
          <p:nvPr/>
        </p:nvSpPr>
        <p:spPr>
          <a:xfrm>
            <a:off x="640080" y="2286000"/>
            <a:ext cx="224568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YAML Frontmatter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73"/>
          <p:cNvSpPr/>
          <p:nvPr/>
        </p:nvSpPr>
        <p:spPr>
          <a:xfrm>
            <a:off x="640080" y="3108960"/>
            <a:ext cx="224568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Description loaded at session start - agent knows capabilities (~100 tokens)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3"/>
          <p:cNvSpPr/>
          <p:nvPr/>
        </p:nvSpPr>
        <p:spPr>
          <a:xfrm>
            <a:off x="334512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73"/>
          <p:cNvSpPr/>
          <p:nvPr/>
        </p:nvSpPr>
        <p:spPr>
          <a:xfrm>
            <a:off x="3345120" y="1645920"/>
            <a:ext cx="2611440" cy="89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3"/>
          <p:cNvSpPr/>
          <p:nvPr/>
        </p:nvSpPr>
        <p:spPr>
          <a:xfrm>
            <a:off x="4320360" y="1874520"/>
            <a:ext cx="66132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Tier 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73"/>
          <p:cNvSpPr/>
          <p:nvPr/>
        </p:nvSpPr>
        <p:spPr>
          <a:xfrm>
            <a:off x="3528000" y="2286000"/>
            <a:ext cx="224568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SKILL.md Content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73"/>
          <p:cNvSpPr/>
          <p:nvPr/>
        </p:nvSpPr>
        <p:spPr>
          <a:xfrm>
            <a:off x="3528000" y="3108960"/>
            <a:ext cx="224568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Full instructions load only when skill invoked (~500-5k tokens)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73"/>
          <p:cNvSpPr/>
          <p:nvPr/>
        </p:nvSpPr>
        <p:spPr>
          <a:xfrm>
            <a:off x="623304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73"/>
          <p:cNvSpPr/>
          <p:nvPr/>
        </p:nvSpPr>
        <p:spPr>
          <a:xfrm>
            <a:off x="6233040" y="1645920"/>
            <a:ext cx="2611440" cy="892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7208280" y="1874520"/>
            <a:ext cx="66132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Tier 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/>
          <p:nvPr/>
        </p:nvSpPr>
        <p:spPr>
          <a:xfrm>
            <a:off x="6415920" y="2286000"/>
            <a:ext cx="224568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Reference Docs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73"/>
          <p:cNvSpPr/>
          <p:nvPr/>
        </p:nvSpPr>
        <p:spPr>
          <a:xfrm>
            <a:off x="6415920" y="3108960"/>
            <a:ext cx="224568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Scripts and templates load on-demand - lazy loading (0 until needed)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73"/>
          <p:cNvSpPr/>
          <p:nvPr/>
        </p:nvSpPr>
        <p:spPr>
          <a:xfrm>
            <a:off x="912096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3"/>
          <p:cNvSpPr/>
          <p:nvPr/>
        </p:nvSpPr>
        <p:spPr>
          <a:xfrm>
            <a:off x="9120960" y="1645920"/>
            <a:ext cx="261144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3"/>
          <p:cNvSpPr/>
          <p:nvPr/>
        </p:nvSpPr>
        <p:spPr>
          <a:xfrm>
            <a:off x="10072440" y="1874520"/>
            <a:ext cx="70848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Result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3"/>
          <p:cNvSpPr/>
          <p:nvPr/>
        </p:nvSpPr>
        <p:spPr>
          <a:xfrm>
            <a:off x="9303840" y="2286000"/>
            <a:ext cx="224568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Focused Context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73"/>
          <p:cNvSpPr/>
          <p:nvPr/>
        </p:nvSpPr>
        <p:spPr>
          <a:xfrm>
            <a:off x="9303840" y="3108960"/>
            <a:ext cx="224568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Maximum tokens for actual work, not instructions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4"/>
          <p:cNvSpPr/>
          <p:nvPr/>
        </p:nvSpPr>
        <p:spPr>
          <a:xfrm>
            <a:off x="2286000" y="1573560"/>
            <a:ext cx="7595280" cy="51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PACKAGED PROCESSES THAT DEFINE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74"/>
          <p:cNvSpPr/>
          <p:nvPr/>
        </p:nvSpPr>
        <p:spPr>
          <a:xfrm>
            <a:off x="2292120" y="2487960"/>
            <a:ext cx="75834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WORKFLOWS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74"/>
          <p:cNvSpPr/>
          <p:nvPr/>
        </p:nvSpPr>
        <p:spPr>
          <a:xfrm>
            <a:off x="457200" y="4133880"/>
            <a:ext cx="112776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/piv-plan-implementation   /piv-implement   /piv-validate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74"/>
          <p:cNvSpPr/>
          <p:nvPr/>
        </p:nvSpPr>
        <p:spPr>
          <a:xfrm>
            <a:off x="5018040" y="5414040"/>
            <a:ext cx="2131200" cy="70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5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75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Rule of Three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75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75"/>
          <p:cNvSpPr/>
          <p:nvPr/>
        </p:nvSpPr>
        <p:spPr>
          <a:xfrm>
            <a:off x="548640" y="196596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/>
          <p:nvPr/>
        </p:nvSpPr>
        <p:spPr>
          <a:xfrm>
            <a:off x="914400" y="182880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Type something more than 3 times = make it a skill (/skills-create)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/>
          <p:nvPr/>
        </p:nvSpPr>
        <p:spPr>
          <a:xfrm>
            <a:off x="548640" y="306324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75"/>
          <p:cNvSpPr/>
          <p:nvPr/>
        </p:nvSpPr>
        <p:spPr>
          <a:xfrm>
            <a:off x="914400" y="292608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Avoid the re-prompting tax on every conversation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75"/>
          <p:cNvSpPr/>
          <p:nvPr/>
        </p:nvSpPr>
        <p:spPr>
          <a:xfrm>
            <a:off x="548640" y="416052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75"/>
          <p:cNvSpPr/>
          <p:nvPr/>
        </p:nvSpPr>
        <p:spPr>
          <a:xfrm>
            <a:off x="914400" y="402336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Skills encode your best practices automatically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75"/>
          <p:cNvSpPr/>
          <p:nvPr/>
        </p:nvSpPr>
        <p:spPr>
          <a:xfrm>
            <a:off x="548640" y="525780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75"/>
          <p:cNvSpPr/>
          <p:nvPr/>
        </p:nvSpPr>
        <p:spPr>
          <a:xfrm>
            <a:off x="914400" y="512064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Your AI layer grows with every workflow you capture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6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Think From the Agent's Perspective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6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6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76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6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6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INPUT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6"/>
          <p:cNvSpPr/>
          <p:nvPr/>
        </p:nvSpPr>
        <p:spPr>
          <a:xfrm>
            <a:off x="1005840" y="420624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What does the agent need to SEE? Context, parameters, persona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6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76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6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76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76"/>
          <p:cNvSpPr/>
          <p:nvPr/>
        </p:nvSpPr>
        <p:spPr>
          <a:xfrm>
            <a:off x="4389120" y="457200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What should the agent DO? Step-by-step workflow, tools to use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6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6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6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6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6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76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What should the agent SHARE? Code, analysis, structured docs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7090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7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Rules &amp; Skills vs Hooks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7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7"/>
          <p:cNvSpPr/>
          <p:nvPr/>
        </p:nvSpPr>
        <p:spPr>
          <a:xfrm>
            <a:off x="4572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7"/>
          <p:cNvSpPr/>
          <p:nvPr/>
        </p:nvSpPr>
        <p:spPr>
          <a:xfrm>
            <a:off x="1419480" y="1920240"/>
            <a:ext cx="33771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Guidance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77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The agent chooses to follow them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7"/>
          <p:cNvSpPr/>
          <p:nvPr/>
        </p:nvSpPr>
        <p:spPr>
          <a:xfrm>
            <a:off x="7315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Right for "usually" and judgment calls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77"/>
          <p:cNvSpPr/>
          <p:nvPr/>
        </p:nvSpPr>
        <p:spPr>
          <a:xfrm>
            <a:off x="7315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Loaded as context, so they can be forgotten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77"/>
          <p:cNvSpPr/>
          <p:nvPr/>
        </p:nvSpPr>
        <p:spPr>
          <a:xfrm>
            <a:off x="7315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CLAUDE.md, skills, references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7"/>
          <p:cNvSpPr/>
          <p:nvPr/>
        </p:nvSpPr>
        <p:spPr>
          <a:xfrm>
            <a:off x="64008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77"/>
          <p:cNvSpPr/>
          <p:nvPr/>
        </p:nvSpPr>
        <p:spPr>
          <a:xfrm>
            <a:off x="8047440" y="1920240"/>
            <a:ext cx="20084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Guarantee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77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Code that fires on an event, every time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77"/>
          <p:cNvSpPr/>
          <p:nvPr/>
        </p:nvSpPr>
        <p:spPr>
          <a:xfrm>
            <a:off x="66751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PreToolUse: block secrets and protected paths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7"/>
          <p:cNvSpPr/>
          <p:nvPr/>
        </p:nvSpPr>
        <p:spPr>
          <a:xfrm>
            <a:off x="66751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Stop: can't finish while checks are red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7"/>
          <p:cNvSpPr/>
          <p:nvPr/>
        </p:nvSpPr>
        <p:spPr>
          <a:xfrm>
            <a:off x="66751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Only exit 2 blocks - build one with /hooks-create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8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8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Exercise 3: Build a Skill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78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78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Prompt your agent: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8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&gt; Commit my R-PIV work and switch to the exercise-3 branch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8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Pick something you repeat (or adapt a shipped skill) and build it with /skills-create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8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Prove it: in a fresh session, ask for the task in plain words - does it fire?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78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Didn't fire? Fix the description: say when to use it, in the words you'd type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78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78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78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Goal: one skill of your own, proven to fire from a plain-language request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9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Debugging as a Workflow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79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79"/>
          <p:cNvSpPr/>
          <p:nvPr/>
        </p:nvSpPr>
        <p:spPr>
          <a:xfrm>
            <a:off x="45720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79"/>
          <p:cNvSpPr/>
          <p:nvPr/>
        </p:nvSpPr>
        <p:spPr>
          <a:xfrm>
            <a:off x="457200" y="1645920"/>
            <a:ext cx="2611440" cy="892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79"/>
          <p:cNvSpPr/>
          <p:nvPr/>
        </p:nvSpPr>
        <p:spPr>
          <a:xfrm>
            <a:off x="71244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79"/>
          <p:cNvSpPr/>
          <p:nvPr/>
        </p:nvSpPr>
        <p:spPr>
          <a:xfrm>
            <a:off x="64008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Reproduce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79"/>
          <p:cNvSpPr/>
          <p:nvPr/>
        </p:nvSpPr>
        <p:spPr>
          <a:xfrm>
            <a:off x="640080" y="3474720"/>
            <a:ext cx="224568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Get a failing test or a reliable repro before the agent changes anything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79"/>
          <p:cNvSpPr/>
          <p:nvPr/>
        </p:nvSpPr>
        <p:spPr>
          <a:xfrm>
            <a:off x="334512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79"/>
          <p:cNvSpPr/>
          <p:nvPr/>
        </p:nvSpPr>
        <p:spPr>
          <a:xfrm>
            <a:off x="3345120" y="1645920"/>
            <a:ext cx="261144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79"/>
          <p:cNvSpPr/>
          <p:nvPr/>
        </p:nvSpPr>
        <p:spPr>
          <a:xfrm>
            <a:off x="360036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79"/>
          <p:cNvSpPr/>
          <p:nvPr/>
        </p:nvSpPr>
        <p:spPr>
          <a:xfrm>
            <a:off x="352800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Locate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79"/>
          <p:cNvSpPr/>
          <p:nvPr/>
        </p:nvSpPr>
        <p:spPr>
          <a:xfrm>
            <a:off x="3528000" y="3474720"/>
            <a:ext cx="224568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Evidence and a named root cause, not a guess (/piv-investigate-issue)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79"/>
          <p:cNvSpPr/>
          <p:nvPr/>
        </p:nvSpPr>
        <p:spPr>
          <a:xfrm>
            <a:off x="623304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79"/>
          <p:cNvSpPr/>
          <p:nvPr/>
        </p:nvSpPr>
        <p:spPr>
          <a:xfrm>
            <a:off x="6233040" y="1645920"/>
            <a:ext cx="2611440" cy="89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79"/>
          <p:cNvSpPr/>
          <p:nvPr/>
        </p:nvSpPr>
        <p:spPr>
          <a:xfrm>
            <a:off x="648828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79"/>
          <p:cNvSpPr/>
          <p:nvPr/>
        </p:nvSpPr>
        <p:spPr>
          <a:xfrm>
            <a:off x="6415920" y="2560320"/>
            <a:ext cx="224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Fix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79"/>
          <p:cNvSpPr/>
          <p:nvPr/>
        </p:nvSpPr>
        <p:spPr>
          <a:xfrm>
            <a:off x="6415920" y="3474720"/>
            <a:ext cx="224568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One cause, one change, with the failing test as the acceptance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79"/>
          <p:cNvSpPr/>
          <p:nvPr/>
        </p:nvSpPr>
        <p:spPr>
          <a:xfrm>
            <a:off x="912096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9"/>
          <p:cNvSpPr/>
          <p:nvPr/>
        </p:nvSpPr>
        <p:spPr>
          <a:xfrm>
            <a:off x="9120960" y="1645920"/>
            <a:ext cx="261144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9"/>
          <p:cNvSpPr/>
          <p:nvPr/>
        </p:nvSpPr>
        <p:spPr>
          <a:xfrm>
            <a:off x="9376200" y="1920250"/>
            <a:ext cx="1032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9"/>
          <p:cNvSpPr/>
          <p:nvPr/>
        </p:nvSpPr>
        <p:spPr>
          <a:xfrm>
            <a:off x="930384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Prevent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79"/>
          <p:cNvSpPr/>
          <p:nvPr/>
        </p:nvSpPr>
        <p:spPr>
          <a:xfrm>
            <a:off x="9303840" y="3474720"/>
            <a:ext cx="2245680" cy="51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Encode the lesson as a rule, a skill, or a hook so it cannot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0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80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Demo: Diagnose Before You Fix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80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80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skill I just built, on issue #3: can't create dark-mode in development (409)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80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/debug-issue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80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Reproduce: a failing test for the 409, before anything changes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80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Locate: a UNIQUE name in the schema, plus a name-only lookup in create and update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80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It stops and asks first: the issue contradicts the spec, so that's your call, not its guess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0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Fix: uniqueness becomes name + environment; the test goes green, then how to prevent 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80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80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point: evidence and a named root cause before a single line changes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1"/>
          <p:cNvSpPr/>
          <p:nvPr/>
        </p:nvSpPr>
        <p:spPr>
          <a:xfrm>
            <a:off x="822960" y="914400"/>
            <a:ext cx="1222200" cy="31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81"/>
          <p:cNvSpPr/>
          <p:nvPr/>
        </p:nvSpPr>
        <p:spPr>
          <a:xfrm>
            <a:off x="977760" y="2103120"/>
            <a:ext cx="107640" cy="2283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81"/>
          <p:cNvSpPr/>
          <p:nvPr/>
        </p:nvSpPr>
        <p:spPr>
          <a:xfrm>
            <a:off x="1709280" y="2531520"/>
            <a:ext cx="959904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Don't just fix the bug. Fix the system that allowed the bug.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81"/>
          <p:cNvSpPr/>
          <p:nvPr/>
        </p:nvSpPr>
        <p:spPr>
          <a:xfrm>
            <a:off x="4467600" y="4572000"/>
            <a:ext cx="3534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- System Evolution Philosophy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2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Evolving Your AI Layer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82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82"/>
          <p:cNvSpPr/>
          <p:nvPr/>
        </p:nvSpPr>
        <p:spPr>
          <a:xfrm>
            <a:off x="45720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82"/>
          <p:cNvSpPr/>
          <p:nvPr/>
        </p:nvSpPr>
        <p:spPr>
          <a:xfrm>
            <a:off x="457200" y="1645920"/>
            <a:ext cx="2611440" cy="892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82"/>
          <p:cNvSpPr/>
          <p:nvPr/>
        </p:nvSpPr>
        <p:spPr>
          <a:xfrm>
            <a:off x="71244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82"/>
          <p:cNvSpPr/>
          <p:nvPr/>
        </p:nvSpPr>
        <p:spPr>
          <a:xfrm>
            <a:off x="64008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Bug Found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82"/>
          <p:cNvSpPr/>
          <p:nvPr/>
        </p:nvSpPr>
        <p:spPr>
          <a:xfrm>
            <a:off x="640080" y="3474720"/>
            <a:ext cx="2245680" cy="94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Run /opportunity-scan on the run: what in the AI Layer would have prevented this?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82"/>
          <p:cNvSpPr/>
          <p:nvPr/>
        </p:nvSpPr>
        <p:spPr>
          <a:xfrm>
            <a:off x="334512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82"/>
          <p:cNvSpPr/>
          <p:nvPr/>
        </p:nvSpPr>
        <p:spPr>
          <a:xfrm>
            <a:off x="3345120" y="1645920"/>
            <a:ext cx="261144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2"/>
          <p:cNvSpPr/>
          <p:nvPr/>
        </p:nvSpPr>
        <p:spPr>
          <a:xfrm>
            <a:off x="360036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2"/>
          <p:cNvSpPr/>
          <p:nvPr/>
        </p:nvSpPr>
        <p:spPr>
          <a:xfrm>
            <a:off x="352800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Update Rules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2"/>
          <p:cNvSpPr/>
          <p:nvPr/>
        </p:nvSpPr>
        <p:spPr>
          <a:xfrm>
            <a:off x="3528000" y="3474720"/>
            <a:ext cx="224568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Add a constraint only once the agent got it wrong; /rules-check-drift keeps rules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82"/>
          <p:cNvSpPr/>
          <p:nvPr/>
        </p:nvSpPr>
        <p:spPr>
          <a:xfrm>
            <a:off x="623304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82"/>
          <p:cNvSpPr/>
          <p:nvPr/>
        </p:nvSpPr>
        <p:spPr>
          <a:xfrm>
            <a:off x="6233040" y="1645920"/>
            <a:ext cx="2611440" cy="89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82"/>
          <p:cNvSpPr/>
          <p:nvPr/>
        </p:nvSpPr>
        <p:spPr>
          <a:xfrm>
            <a:off x="6488280" y="1920240"/>
            <a:ext cx="585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82"/>
          <p:cNvSpPr/>
          <p:nvPr/>
        </p:nvSpPr>
        <p:spPr>
          <a:xfrm>
            <a:off x="6415920" y="2468880"/>
            <a:ext cx="224568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Update/Add Skills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82"/>
          <p:cNvSpPr/>
          <p:nvPr/>
        </p:nvSpPr>
        <p:spPr>
          <a:xfrm>
            <a:off x="6415920" y="3474720"/>
            <a:ext cx="224568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Create a skill, or adapt an existing one, with /skills-create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82"/>
          <p:cNvSpPr/>
          <p:nvPr/>
        </p:nvSpPr>
        <p:spPr>
          <a:xfrm>
            <a:off x="912096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82"/>
          <p:cNvSpPr/>
          <p:nvPr/>
        </p:nvSpPr>
        <p:spPr>
          <a:xfrm>
            <a:off x="9120960" y="1645920"/>
            <a:ext cx="261144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82"/>
          <p:cNvSpPr/>
          <p:nvPr/>
        </p:nvSpPr>
        <p:spPr>
          <a:xfrm>
            <a:off x="9376200" y="1920250"/>
            <a:ext cx="13176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2"/>
          <p:cNvSpPr/>
          <p:nvPr/>
        </p:nvSpPr>
        <p:spPr>
          <a:xfrm>
            <a:off x="9303840" y="25603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Add a Guarantee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82"/>
          <p:cNvSpPr/>
          <p:nvPr/>
        </p:nvSpPr>
        <p:spPr>
          <a:xfrm>
            <a:off x="9303840" y="3474720"/>
            <a:ext cx="2245680" cy="51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If it must never happen again, make it a hook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3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83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Exercise 4: Evolve the System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83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83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Prompt your agent, then open a fresh session: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83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&gt; Commit my skill and switch back to my-rpiv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83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/opportunity-scan, pointed at your Exercise 2 run: the plan, the report, the review, the diff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83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Add the symptom you noticed - what you had to correct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83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Apply its top-ranked change: a rule, a skill step, or a hook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83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Don't fix the code. Fix the system that allowed it.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83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83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Goal: one durable improvement to your AI Layer, from real evidence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4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84"/>
          <p:cNvSpPr/>
          <p:nvPr/>
        </p:nvSpPr>
        <p:spPr>
          <a:xfrm>
            <a:off x="0" y="95724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Team Standardization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84"/>
          <p:cNvSpPr/>
          <p:nvPr/>
        </p:nvSpPr>
        <p:spPr>
          <a:xfrm>
            <a:off x="548640" y="187164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84"/>
          <p:cNvSpPr/>
          <p:nvPr/>
        </p:nvSpPr>
        <p:spPr>
          <a:xfrm>
            <a:off x="600120" y="234504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84"/>
          <p:cNvSpPr/>
          <p:nvPr/>
        </p:nvSpPr>
        <p:spPr>
          <a:xfrm>
            <a:off x="965880" y="225000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Same global rules across all engineers means consistent AI output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84"/>
          <p:cNvSpPr/>
          <p:nvPr/>
        </p:nvSpPr>
        <p:spPr>
          <a:xfrm>
            <a:off x="600120" y="304488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84"/>
          <p:cNvSpPr/>
          <p:nvPr/>
        </p:nvSpPr>
        <p:spPr>
          <a:xfrm>
            <a:off x="965880" y="295020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Shared skills create a repeatable process for the entire SDLC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4"/>
          <p:cNvSpPr/>
          <p:nvPr/>
        </p:nvSpPr>
        <p:spPr>
          <a:xfrm>
            <a:off x="600120" y="374508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84"/>
          <p:cNvSpPr/>
          <p:nvPr/>
        </p:nvSpPr>
        <p:spPr>
          <a:xfrm>
            <a:off x="965880" y="365004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New team members onboard faster with the AI layer already built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4"/>
          <p:cNvSpPr/>
          <p:nvPr/>
        </p:nvSpPr>
        <p:spPr>
          <a:xfrm>
            <a:off x="600120" y="444492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84"/>
          <p:cNvSpPr/>
          <p:nvPr/>
        </p:nvSpPr>
        <p:spPr>
          <a:xfrm>
            <a:off x="965880" y="434988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Code review becomes predictable when everyone follows the same workflow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84"/>
          <p:cNvSpPr/>
          <p:nvPr/>
        </p:nvSpPr>
        <p:spPr>
          <a:xfrm>
            <a:off x="600120" y="514512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84"/>
          <p:cNvSpPr/>
          <p:nvPr/>
        </p:nvSpPr>
        <p:spPr>
          <a:xfrm>
            <a:off x="965880" y="5050080"/>
            <a:ext cx="9999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Your AI layer becomes institutional knowledge that survives turnover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5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A0D14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85"/>
          <p:cNvSpPr/>
          <p:nvPr/>
        </p:nvSpPr>
        <p:spPr>
          <a:xfrm>
            <a:off x="1118160" y="2560320"/>
            <a:ext cx="1875600" cy="191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85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85"/>
          <p:cNvSpPr/>
          <p:nvPr/>
        </p:nvSpPr>
        <p:spPr>
          <a:xfrm>
            <a:off x="5604840" y="2377440"/>
            <a:ext cx="515556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5"/>
          <p:cNvSpPr/>
          <p:nvPr/>
        </p:nvSpPr>
        <p:spPr>
          <a:xfrm>
            <a:off x="5604840" y="3840480"/>
            <a:ext cx="51555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Five ways to say go, from a script to CI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86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86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Five Ways to Say Go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86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86"/>
          <p:cNvSpPr/>
          <p:nvPr/>
        </p:nvSpPr>
        <p:spPr>
          <a:xfrm>
            <a:off x="600120" y="180000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Headless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86"/>
          <p:cNvSpPr/>
          <p:nvPr/>
        </p:nvSpPr>
        <p:spPr>
          <a:xfrm>
            <a:off x="3200040" y="180000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 claude -p script with real checks between stages (compose-headless-workflow)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6"/>
          <p:cNvSpPr/>
          <p:nvPr/>
        </p:nvSpPr>
        <p:spPr>
          <a:xfrm>
            <a:off x="500040" y="185004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86"/>
          <p:cNvSpPr/>
          <p:nvPr/>
        </p:nvSpPr>
        <p:spPr>
          <a:xfrm>
            <a:off x="600120" y="249984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Agent SDK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86"/>
          <p:cNvSpPr/>
          <p:nvPr/>
        </p:nvSpPr>
        <p:spPr>
          <a:xfrm>
            <a:off x="3200040" y="249984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The same loop as a program, when a script outgrows it (compose-sdk-workflow)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86"/>
          <p:cNvSpPr/>
          <p:nvPr/>
        </p:nvSpPr>
        <p:spPr>
          <a:xfrm>
            <a:off x="500040" y="254988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86"/>
          <p:cNvSpPr/>
          <p:nvPr/>
        </p:nvSpPr>
        <p:spPr>
          <a:xfrm>
            <a:off x="600120" y="320004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Hooks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86"/>
          <p:cNvSpPr/>
          <p:nvPr/>
        </p:nvSpPr>
        <p:spPr>
          <a:xfrm>
            <a:off x="3200040" y="320004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Fires on a lifecycle event, every single time (compose-hook-workflow)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86"/>
          <p:cNvSpPr/>
          <p:nvPr/>
        </p:nvSpPr>
        <p:spPr>
          <a:xfrm>
            <a:off x="500040" y="325008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86"/>
          <p:cNvSpPr/>
          <p:nvPr/>
        </p:nvSpPr>
        <p:spPr>
          <a:xfrm>
            <a:off x="600120" y="389988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86"/>
          <p:cNvSpPr/>
          <p:nvPr/>
        </p:nvSpPr>
        <p:spPr>
          <a:xfrm>
            <a:off x="3200040" y="389988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The repo is the trigger: a PR, a comment, a tag (compose-ci-workflow)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6"/>
          <p:cNvSpPr/>
          <p:nvPr/>
        </p:nvSpPr>
        <p:spPr>
          <a:xfrm>
            <a:off x="500040" y="394992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86"/>
          <p:cNvSpPr/>
          <p:nvPr/>
        </p:nvSpPr>
        <p:spPr>
          <a:xfrm>
            <a:off x="600120" y="460008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86"/>
          <p:cNvSpPr/>
          <p:nvPr/>
        </p:nvSpPr>
        <p:spPr>
          <a:xfrm>
            <a:off x="3200040" y="460008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One skill runs the pipeline through background agents (orchestrate-issues, Archon)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86"/>
          <p:cNvSpPr/>
          <p:nvPr/>
        </p:nvSpPr>
        <p:spPr>
          <a:xfrm>
            <a:off x="500040" y="465012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86"/>
          <p:cNvSpPr/>
          <p:nvPr/>
        </p:nvSpPr>
        <p:spPr>
          <a:xfrm>
            <a:off x="600120" y="529992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The Rule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86"/>
          <p:cNvSpPr/>
          <p:nvPr/>
        </p:nvSpPr>
        <p:spPr>
          <a:xfrm>
            <a:off x="3200040" y="529992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Automate a class of work, not a task. A green PR is a fact; 'done' is a claim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86"/>
          <p:cNvSpPr/>
          <p:nvPr/>
        </p:nvSpPr>
        <p:spPr>
          <a:xfrm>
            <a:off x="500040" y="534996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7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87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Demo: The Fix Loop as a Program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87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87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 different bug (#5), fixed end to end by a program, with no human in the loop: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87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uv run fix-issue.py 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87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#5 (a 42.5% rollout is accepted): implement, then the real checks run with no agent involved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87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Failures go back into the same session (max 3), then a review in a fresh context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87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The session is an object in your code, and the .claude/ layer loads by itself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87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guard() refuses any edit to shared/types.ts mid-run, and tells the agent why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87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87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point: the deterministic check is the gate, not the agent's word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8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88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Demo: CI Reviews the PR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88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88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repo is the trigger: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88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@claude-review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88"/>
          <p:cNvSpPr/>
          <p:nvPr/>
        </p:nvSpPr>
        <p:spPr>
          <a:xfrm>
            <a:off x="548640" y="32918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Every PR is reviewed the moment it opens (claude-review.yml)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88"/>
          <p:cNvSpPr/>
          <p:nvPr/>
        </p:nvSpPr>
        <p:spPr>
          <a:xfrm>
            <a:off x="54864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Comment @claude-review on a PR for another pass, in about a minute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88"/>
          <p:cNvSpPr/>
          <p:nvPr/>
        </p:nvSpPr>
        <p:spPr>
          <a:xfrm>
            <a:off x="54864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contents: read is the trust boundary: it reviews, it can't push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88"/>
          <p:cNvSpPr/>
          <p:nvPr/>
        </p:nvSpPr>
        <p:spPr>
          <a:xfrm>
            <a:off x="54864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Same class of work, different invokers: pick the one whose trigger fits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88"/>
          <p:cNvSpPr/>
          <p:nvPr/>
        </p:nvSpPr>
        <p:spPr>
          <a:xfrm>
            <a:off x="548640" y="539496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88"/>
          <p:cNvSpPr/>
          <p:nvPr/>
        </p:nvSpPr>
        <p:spPr>
          <a:xfrm>
            <a:off x="822960" y="566928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The point: a green PR is a fact; "done" is a claim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7090F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9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89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AI in Your CI/CD Pipeline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89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89"/>
          <p:cNvSpPr/>
          <p:nvPr/>
        </p:nvSpPr>
        <p:spPr>
          <a:xfrm>
            <a:off x="600120" y="180000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PR Opened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89"/>
          <p:cNvSpPr/>
          <p:nvPr/>
        </p:nvSpPr>
        <p:spPr>
          <a:xfrm>
            <a:off x="3200040" y="180000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Developer pushes code and opens a pull request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89"/>
          <p:cNvSpPr/>
          <p:nvPr/>
        </p:nvSpPr>
        <p:spPr>
          <a:xfrm>
            <a:off x="500040" y="185004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89"/>
          <p:cNvSpPr/>
          <p:nvPr/>
        </p:nvSpPr>
        <p:spPr>
          <a:xfrm>
            <a:off x="600120" y="249984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AI Code Review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89"/>
          <p:cNvSpPr/>
          <p:nvPr/>
        </p:nvSpPr>
        <p:spPr>
          <a:xfrm>
            <a:off x="3200040" y="249984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piv-review-pr runs in CI (claude-review.yml), or CodeRabbit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89"/>
          <p:cNvSpPr/>
          <p:nvPr/>
        </p:nvSpPr>
        <p:spPr>
          <a:xfrm>
            <a:off x="500040" y="254988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89"/>
          <p:cNvSpPr/>
          <p:nvPr/>
        </p:nvSpPr>
        <p:spPr>
          <a:xfrm>
            <a:off x="600120" y="320004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Security Scan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89"/>
          <p:cNvSpPr/>
          <p:nvPr/>
        </p:nvSpPr>
        <p:spPr>
          <a:xfrm>
            <a:off x="3200040" y="320004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AI agent checks for OWASP top 10, secrets, dependency vulnerabilities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89"/>
          <p:cNvSpPr/>
          <p:nvPr/>
        </p:nvSpPr>
        <p:spPr>
          <a:xfrm>
            <a:off x="500040" y="325008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89"/>
          <p:cNvSpPr/>
          <p:nvPr/>
        </p:nvSpPr>
        <p:spPr>
          <a:xfrm>
            <a:off x="600120" y="389988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Automated Tests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89"/>
          <p:cNvSpPr/>
          <p:nvPr/>
        </p:nvSpPr>
        <p:spPr>
          <a:xfrm>
            <a:off x="3200040" y="389988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Unit, integration, and E2E tests run automatically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89"/>
          <p:cNvSpPr/>
          <p:nvPr/>
        </p:nvSpPr>
        <p:spPr>
          <a:xfrm>
            <a:off x="500040" y="394992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89"/>
          <p:cNvSpPr/>
          <p:nvPr/>
        </p:nvSpPr>
        <p:spPr>
          <a:xfrm>
            <a:off x="600120" y="460008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89"/>
          <p:cNvSpPr/>
          <p:nvPr/>
        </p:nvSpPr>
        <p:spPr>
          <a:xfrm>
            <a:off x="3200040" y="460008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Engineer reviews with AI analysis already complete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89"/>
          <p:cNvSpPr/>
          <p:nvPr/>
        </p:nvSpPr>
        <p:spPr>
          <a:xfrm>
            <a:off x="500040" y="465012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89"/>
          <p:cNvSpPr/>
          <p:nvPr/>
        </p:nvSpPr>
        <p:spPr>
          <a:xfrm>
            <a:off x="600120" y="5299920"/>
            <a:ext cx="23990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89"/>
          <p:cNvSpPr/>
          <p:nvPr/>
        </p:nvSpPr>
        <p:spPr>
          <a:xfrm>
            <a:off x="3200040" y="5299920"/>
            <a:ext cx="799884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Merge triggers deployment with confidence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89"/>
          <p:cNvSpPr/>
          <p:nvPr/>
        </p:nvSpPr>
        <p:spPr>
          <a:xfrm>
            <a:off x="500040" y="5349960"/>
            <a:ext cx="48960" cy="2487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7090F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0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90"/>
          <p:cNvSpPr/>
          <p:nvPr/>
        </p:nvSpPr>
        <p:spPr>
          <a:xfrm>
            <a:off x="0" y="365760"/>
            <a:ext cx="121920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CodeRabbit + Custom Agents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90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90"/>
          <p:cNvSpPr/>
          <p:nvPr/>
        </p:nvSpPr>
        <p:spPr>
          <a:xfrm>
            <a:off x="457200" y="2011680"/>
            <a:ext cx="5301360" cy="310896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90"/>
          <p:cNvSpPr/>
          <p:nvPr/>
        </p:nvSpPr>
        <p:spPr>
          <a:xfrm>
            <a:off x="1230480" y="2286000"/>
            <a:ext cx="37544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CodeRabbit (Out of the Box)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90"/>
          <p:cNvSpPr/>
          <p:nvPr/>
        </p:nvSpPr>
        <p:spPr>
          <a:xfrm>
            <a:off x="731520" y="297108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90"/>
          <p:cNvSpPr/>
          <p:nvPr/>
        </p:nvSpPr>
        <p:spPr>
          <a:xfrm>
            <a:off x="1097280" y="28760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Automated PR review on every push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90"/>
          <p:cNvSpPr/>
          <p:nvPr/>
        </p:nvSpPr>
        <p:spPr>
          <a:xfrm>
            <a:off x="731520" y="347112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90"/>
          <p:cNvSpPr/>
          <p:nvPr/>
        </p:nvSpPr>
        <p:spPr>
          <a:xfrm>
            <a:off x="1097280" y="33760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Configurable review rules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90"/>
          <p:cNvSpPr/>
          <p:nvPr/>
        </p:nvSpPr>
        <p:spPr>
          <a:xfrm>
            <a:off x="731520" y="397116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90"/>
          <p:cNvSpPr/>
          <p:nvPr/>
        </p:nvSpPr>
        <p:spPr>
          <a:xfrm>
            <a:off x="1097280" y="387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Learns your codebase patterns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90"/>
          <p:cNvSpPr/>
          <p:nvPr/>
        </p:nvSpPr>
        <p:spPr>
          <a:xfrm>
            <a:off x="731520" y="4471200"/>
            <a:ext cx="107640" cy="107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90"/>
          <p:cNvSpPr/>
          <p:nvPr/>
        </p:nvSpPr>
        <p:spPr>
          <a:xfrm>
            <a:off x="1097280" y="437616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Summary + line-by-line comments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90"/>
          <p:cNvSpPr/>
          <p:nvPr/>
        </p:nvSpPr>
        <p:spPr>
          <a:xfrm>
            <a:off x="6400800" y="2011680"/>
            <a:ext cx="5301360" cy="310896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90"/>
          <p:cNvSpPr/>
          <p:nvPr/>
        </p:nvSpPr>
        <p:spPr>
          <a:xfrm>
            <a:off x="7867440" y="2286000"/>
            <a:ext cx="301392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Custom AI Agents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90"/>
          <p:cNvSpPr/>
          <p:nvPr/>
        </p:nvSpPr>
        <p:spPr>
          <a:xfrm>
            <a:off x="6675120" y="297108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90"/>
          <p:cNvSpPr/>
          <p:nvPr/>
        </p:nvSpPr>
        <p:spPr>
          <a:xfrm>
            <a:off x="7040880" y="28760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Build review agents for your specific needs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90"/>
          <p:cNvSpPr/>
          <p:nvPr/>
        </p:nvSpPr>
        <p:spPr>
          <a:xfrm>
            <a:off x="6675120" y="347112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90"/>
          <p:cNvSpPr/>
          <p:nvPr/>
        </p:nvSpPr>
        <p:spPr>
          <a:xfrm>
            <a:off x="7040880" y="33760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Security scanning tailored to your stack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90"/>
          <p:cNvSpPr/>
          <p:nvPr/>
        </p:nvSpPr>
        <p:spPr>
          <a:xfrm>
            <a:off x="6675120" y="397116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90"/>
          <p:cNvSpPr/>
          <p:nvPr/>
        </p:nvSpPr>
        <p:spPr>
          <a:xfrm>
            <a:off x="7040880" y="38761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Compliance checks for your industry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90"/>
          <p:cNvSpPr/>
          <p:nvPr/>
        </p:nvSpPr>
        <p:spPr>
          <a:xfrm>
            <a:off x="6675120" y="4471200"/>
            <a:ext cx="107640" cy="107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90"/>
          <p:cNvSpPr/>
          <p:nvPr/>
        </p:nvSpPr>
        <p:spPr>
          <a:xfrm>
            <a:off x="7040880" y="437616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Architecture enforcement and pattern validation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7090F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91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91"/>
          <p:cNvSpPr/>
          <p:nvPr/>
        </p:nvSpPr>
        <p:spPr>
          <a:xfrm>
            <a:off x="0" y="457200"/>
            <a:ext cx="121920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AI-First Security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91"/>
          <p:cNvSpPr/>
          <p:nvPr/>
        </p:nvSpPr>
        <p:spPr>
          <a:xfrm>
            <a:off x="548640" y="1371600"/>
            <a:ext cx="228492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91"/>
          <p:cNvSpPr/>
          <p:nvPr/>
        </p:nvSpPr>
        <p:spPr>
          <a:xfrm>
            <a:off x="548640" y="1919880"/>
            <a:ext cx="354564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91"/>
          <p:cNvSpPr/>
          <p:nvPr/>
        </p:nvSpPr>
        <p:spPr>
          <a:xfrm>
            <a:off x="72864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91"/>
          <p:cNvSpPr/>
          <p:nvPr/>
        </p:nvSpPr>
        <p:spPr>
          <a:xfrm>
            <a:off x="728640" y="2620080"/>
            <a:ext cx="3185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Dependency Audit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91"/>
          <p:cNvSpPr/>
          <p:nvPr/>
        </p:nvSpPr>
        <p:spPr>
          <a:xfrm>
            <a:off x="728640" y="3219840"/>
            <a:ext cx="31856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AI scans package.json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for known CVEs and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vulnerable versions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91"/>
          <p:cNvSpPr/>
          <p:nvPr/>
        </p:nvSpPr>
        <p:spPr>
          <a:xfrm>
            <a:off x="4275360" y="1919880"/>
            <a:ext cx="354564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91"/>
          <p:cNvSpPr/>
          <p:nvPr/>
        </p:nvSpPr>
        <p:spPr>
          <a:xfrm>
            <a:off x="445536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91"/>
          <p:cNvSpPr/>
          <p:nvPr/>
        </p:nvSpPr>
        <p:spPr>
          <a:xfrm>
            <a:off x="4455360" y="2620080"/>
            <a:ext cx="3185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Secret Detection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91"/>
          <p:cNvSpPr/>
          <p:nvPr/>
        </p:nvSpPr>
        <p:spPr>
          <a:xfrm>
            <a:off x="4455360" y="3219840"/>
            <a:ext cx="318564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Catches hardcoded keys,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tokens, and credentials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before they hit the repo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91"/>
          <p:cNvSpPr/>
          <p:nvPr/>
        </p:nvSpPr>
        <p:spPr>
          <a:xfrm>
            <a:off x="8002080" y="1919880"/>
            <a:ext cx="3545640" cy="3799080"/>
          </a:xfrm>
          <a:prstGeom prst="roundRect">
            <a:avLst>
              <a:gd fmla="val 16667" name="adj"/>
            </a:avLst>
          </a:prstGeom>
          <a:solidFill>
            <a:srgbClr val="11151F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91"/>
          <p:cNvSpPr/>
          <p:nvPr/>
        </p:nvSpPr>
        <p:spPr>
          <a:xfrm>
            <a:off x="8182080" y="2099880"/>
            <a:ext cx="5990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91"/>
          <p:cNvSpPr/>
          <p:nvPr/>
        </p:nvSpPr>
        <p:spPr>
          <a:xfrm>
            <a:off x="8182080" y="2620080"/>
            <a:ext cx="3185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Code Patterns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91"/>
          <p:cNvSpPr/>
          <p:nvPr/>
        </p:nvSpPr>
        <p:spPr>
          <a:xfrm>
            <a:off x="8182080" y="3219840"/>
            <a:ext cx="31856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Reviews for injection,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XSS, auth bypass, and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OWASP top 10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2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92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92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92"/>
          <p:cNvSpPr/>
          <p:nvPr/>
        </p:nvSpPr>
        <p:spPr>
          <a:xfrm>
            <a:off x="4754880" y="2194560"/>
            <a:ext cx="6855840" cy="143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AI-Native Architecture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92"/>
          <p:cNvSpPr/>
          <p:nvPr/>
        </p:nvSpPr>
        <p:spPr>
          <a:xfrm>
            <a:off x="4754880" y="3840480"/>
            <a:ext cx="6855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Optimizing codebases for agents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93"/>
          <p:cNvSpPr/>
          <p:nvPr/>
        </p:nvSpPr>
        <p:spPr>
          <a:xfrm>
            <a:off x="759600" y="1188720"/>
            <a:ext cx="1222200" cy="31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3B82F6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2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93"/>
          <p:cNvSpPr/>
          <p:nvPr/>
        </p:nvSpPr>
        <p:spPr>
          <a:xfrm>
            <a:off x="914400" y="2377440"/>
            <a:ext cx="107640" cy="2283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93"/>
          <p:cNvSpPr/>
          <p:nvPr/>
        </p:nvSpPr>
        <p:spPr>
          <a:xfrm>
            <a:off x="1555200" y="2590560"/>
            <a:ext cx="9599040" cy="17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Establish the foundation of your project first, then building everything is much more efficient and reliable.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94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6 Foundation Layers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94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94"/>
          <p:cNvSpPr/>
          <p:nvPr/>
        </p:nvSpPr>
        <p:spPr>
          <a:xfrm>
            <a:off x="457200" y="1645920"/>
            <a:ext cx="3574080" cy="2192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94"/>
          <p:cNvSpPr/>
          <p:nvPr/>
        </p:nvSpPr>
        <p:spPr>
          <a:xfrm>
            <a:off x="457200" y="1645920"/>
            <a:ext cx="3574080" cy="70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94"/>
          <p:cNvSpPr/>
          <p:nvPr/>
        </p:nvSpPr>
        <p:spPr>
          <a:xfrm>
            <a:off x="671040" y="1828800"/>
            <a:ext cx="48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94"/>
          <p:cNvSpPr/>
          <p:nvPr/>
        </p:nvSpPr>
        <p:spPr>
          <a:xfrm>
            <a:off x="640080" y="2286000"/>
            <a:ext cx="32083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Testing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94"/>
          <p:cNvSpPr/>
          <p:nvPr/>
        </p:nvSpPr>
        <p:spPr>
          <a:xfrm>
            <a:off x="640080" y="2834640"/>
            <a:ext cx="320832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Biome, Bun test, Testing 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94"/>
          <p:cNvSpPr/>
          <p:nvPr/>
        </p:nvSpPr>
        <p:spPr>
          <a:xfrm>
            <a:off x="4307760" y="1645920"/>
            <a:ext cx="3574080" cy="2192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94"/>
          <p:cNvSpPr/>
          <p:nvPr/>
        </p:nvSpPr>
        <p:spPr>
          <a:xfrm>
            <a:off x="4307760" y="1645920"/>
            <a:ext cx="3574080" cy="70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94"/>
          <p:cNvSpPr/>
          <p:nvPr/>
        </p:nvSpPr>
        <p:spPr>
          <a:xfrm>
            <a:off x="4521600" y="1828800"/>
            <a:ext cx="48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94"/>
          <p:cNvSpPr/>
          <p:nvPr/>
        </p:nvSpPr>
        <p:spPr>
          <a:xfrm>
            <a:off x="4490640" y="2286000"/>
            <a:ext cx="32083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Logging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94"/>
          <p:cNvSpPr/>
          <p:nvPr/>
        </p:nvSpPr>
        <p:spPr>
          <a:xfrm>
            <a:off x="4490640" y="2834640"/>
            <a:ext cx="320832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Pino with structured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94"/>
          <p:cNvSpPr/>
          <p:nvPr/>
        </p:nvSpPr>
        <p:spPr>
          <a:xfrm>
            <a:off x="8158320" y="1645920"/>
            <a:ext cx="3574080" cy="2192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94"/>
          <p:cNvSpPr/>
          <p:nvPr/>
        </p:nvSpPr>
        <p:spPr>
          <a:xfrm>
            <a:off x="8158320" y="1645920"/>
            <a:ext cx="3574080" cy="709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94"/>
          <p:cNvSpPr/>
          <p:nvPr/>
        </p:nvSpPr>
        <p:spPr>
          <a:xfrm>
            <a:off x="8372160" y="1828800"/>
            <a:ext cx="48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94"/>
          <p:cNvSpPr/>
          <p:nvPr/>
        </p:nvSpPr>
        <p:spPr>
          <a:xfrm>
            <a:off x="8341200" y="2286000"/>
            <a:ext cx="32083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Infra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94"/>
          <p:cNvSpPr/>
          <p:nvPr/>
        </p:nvSpPr>
        <p:spPr>
          <a:xfrm>
            <a:off x="8341200" y="2834640"/>
            <a:ext cx="320832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Next.js 16 with app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94"/>
          <p:cNvSpPr/>
          <p:nvPr/>
        </p:nvSpPr>
        <p:spPr>
          <a:xfrm>
            <a:off x="457200" y="4114800"/>
            <a:ext cx="3574080" cy="2192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94"/>
          <p:cNvSpPr/>
          <p:nvPr/>
        </p:nvSpPr>
        <p:spPr>
          <a:xfrm>
            <a:off x="457200" y="4114800"/>
            <a:ext cx="3574080" cy="70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94"/>
          <p:cNvSpPr/>
          <p:nvPr/>
        </p:nvSpPr>
        <p:spPr>
          <a:xfrm>
            <a:off x="671040" y="4297680"/>
            <a:ext cx="48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94"/>
          <p:cNvSpPr/>
          <p:nvPr/>
        </p:nvSpPr>
        <p:spPr>
          <a:xfrm>
            <a:off x="640080" y="4754880"/>
            <a:ext cx="32083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Database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94"/>
          <p:cNvSpPr/>
          <p:nvPr/>
        </p:nvSpPr>
        <p:spPr>
          <a:xfrm>
            <a:off x="640080" y="5303520"/>
            <a:ext cx="320832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Drizzle ORM with migrations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94"/>
          <p:cNvSpPr/>
          <p:nvPr/>
        </p:nvSpPr>
        <p:spPr>
          <a:xfrm>
            <a:off x="4307760" y="4114800"/>
            <a:ext cx="3574080" cy="2192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94"/>
          <p:cNvSpPr/>
          <p:nvPr/>
        </p:nvSpPr>
        <p:spPr>
          <a:xfrm>
            <a:off x="4307760" y="4114800"/>
            <a:ext cx="3574080" cy="70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94"/>
          <p:cNvSpPr/>
          <p:nvPr/>
        </p:nvSpPr>
        <p:spPr>
          <a:xfrm>
            <a:off x="4521600" y="4297680"/>
            <a:ext cx="48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94"/>
          <p:cNvSpPr/>
          <p:nvPr/>
        </p:nvSpPr>
        <p:spPr>
          <a:xfrm>
            <a:off x="4490640" y="4754880"/>
            <a:ext cx="32083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Health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94"/>
          <p:cNvSpPr/>
          <p:nvPr/>
        </p:nvSpPr>
        <p:spPr>
          <a:xfrm>
            <a:off x="4490640" y="5303520"/>
            <a:ext cx="320832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/api/health endpoints 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94"/>
          <p:cNvSpPr/>
          <p:nvPr/>
        </p:nvSpPr>
        <p:spPr>
          <a:xfrm>
            <a:off x="8158320" y="4114800"/>
            <a:ext cx="3574080" cy="2192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94"/>
          <p:cNvSpPr/>
          <p:nvPr/>
        </p:nvSpPr>
        <p:spPr>
          <a:xfrm>
            <a:off x="8158320" y="4114800"/>
            <a:ext cx="3574080" cy="709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94"/>
          <p:cNvSpPr/>
          <p:nvPr/>
        </p:nvSpPr>
        <p:spPr>
          <a:xfrm>
            <a:off x="8372160" y="4297680"/>
            <a:ext cx="48456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94"/>
          <p:cNvSpPr/>
          <p:nvPr/>
        </p:nvSpPr>
        <p:spPr>
          <a:xfrm>
            <a:off x="8341200" y="4754880"/>
            <a:ext cx="32083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Patterns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94"/>
          <p:cNvSpPr/>
          <p:nvPr/>
        </p:nvSpPr>
        <p:spPr>
          <a:xfrm>
            <a:off x="8341200" y="5303520"/>
            <a:ext cx="320832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Zod validation everywhere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7090F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5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95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The Compounding Quality Effect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95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95"/>
          <p:cNvSpPr/>
          <p:nvPr/>
        </p:nvSpPr>
        <p:spPr>
          <a:xfrm>
            <a:off x="548640" y="196596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95"/>
          <p:cNvSpPr/>
          <p:nvPr/>
        </p:nvSpPr>
        <p:spPr>
          <a:xfrm>
            <a:off x="914400" y="182880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Tests validate logging works correctly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95"/>
          <p:cNvSpPr/>
          <p:nvPr/>
        </p:nvSpPr>
        <p:spPr>
          <a:xfrm>
            <a:off x="548640" y="306324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95"/>
          <p:cNvSpPr/>
          <p:nvPr/>
        </p:nvSpPr>
        <p:spPr>
          <a:xfrm>
            <a:off x="914400" y="292608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Logging enables debugging in any environment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95"/>
          <p:cNvSpPr/>
          <p:nvPr/>
        </p:nvSpPr>
        <p:spPr>
          <a:xfrm>
            <a:off x="548640" y="416052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95"/>
          <p:cNvSpPr/>
          <p:nvPr/>
        </p:nvSpPr>
        <p:spPr>
          <a:xfrm>
            <a:off x="914400" y="402336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Infrastructure supports database operations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95"/>
          <p:cNvSpPr/>
          <p:nvPr/>
        </p:nvSpPr>
        <p:spPr>
          <a:xfrm>
            <a:off x="548640" y="525780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95"/>
          <p:cNvSpPr/>
          <p:nvPr/>
        </p:nvSpPr>
        <p:spPr>
          <a:xfrm>
            <a:off x="914400" y="512064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Everything builds on the foundation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6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96"/>
          <p:cNvSpPr/>
          <p:nvPr/>
        </p:nvSpPr>
        <p:spPr>
          <a:xfrm>
            <a:off x="520200" y="2560320"/>
            <a:ext cx="3072240" cy="161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VSA</a:t>
            </a:r>
            <a:endParaRPr b="0" i="0" sz="1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96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96"/>
          <p:cNvSpPr/>
          <p:nvPr/>
        </p:nvSpPr>
        <p:spPr>
          <a:xfrm>
            <a:off x="4754880" y="2194560"/>
            <a:ext cx="6855840" cy="143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Vertical Slice Architecture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96"/>
          <p:cNvSpPr/>
          <p:nvPr/>
        </p:nvSpPr>
        <p:spPr>
          <a:xfrm>
            <a:off x="4754880" y="3657600"/>
            <a:ext cx="6855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Why VSA works for Agentic Engineering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7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Horizontal vs Vertical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97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97"/>
          <p:cNvSpPr/>
          <p:nvPr/>
        </p:nvSpPr>
        <p:spPr>
          <a:xfrm>
            <a:off x="4572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97"/>
          <p:cNvSpPr/>
          <p:nvPr/>
        </p:nvSpPr>
        <p:spPr>
          <a:xfrm>
            <a:off x="1412640" y="1920240"/>
            <a:ext cx="3390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Traditional (Horizontal)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97"/>
          <p:cNvSpPr/>
          <p:nvPr/>
        </p:nvSpPr>
        <p:spPr>
          <a:xfrm>
            <a:off x="7315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Cross-cutting concerns everywhere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97"/>
          <p:cNvSpPr/>
          <p:nvPr/>
        </p:nvSpPr>
        <p:spPr>
          <a:xfrm>
            <a:off x="7315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Changes ripple across layers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97"/>
          <p:cNvSpPr/>
          <p:nvPr/>
        </p:nvSpPr>
        <p:spPr>
          <a:xfrm>
            <a:off x="7315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Hard to reason about impact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97"/>
          <p:cNvSpPr/>
          <p:nvPr/>
        </p:nvSpPr>
        <p:spPr>
          <a:xfrm>
            <a:off x="7315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Context spread thin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97"/>
          <p:cNvSpPr/>
          <p:nvPr/>
        </p:nvSpPr>
        <p:spPr>
          <a:xfrm>
            <a:off x="6400800" y="1645920"/>
            <a:ext cx="5301360" cy="4569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97"/>
          <p:cNvSpPr/>
          <p:nvPr/>
        </p:nvSpPr>
        <p:spPr>
          <a:xfrm>
            <a:off x="7979400" y="1920240"/>
            <a:ext cx="21441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VSA (Vertical)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97"/>
          <p:cNvSpPr/>
          <p:nvPr/>
        </p:nvSpPr>
        <p:spPr>
          <a:xfrm>
            <a:off x="6675120" y="256032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Feature isolation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97"/>
          <p:cNvSpPr/>
          <p:nvPr/>
        </p:nvSpPr>
        <p:spPr>
          <a:xfrm>
            <a:off x="6675120" y="338328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Changes contained to slice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97"/>
          <p:cNvSpPr/>
          <p:nvPr/>
        </p:nvSpPr>
        <p:spPr>
          <a:xfrm>
            <a:off x="6675120" y="420624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Clear boundaries for Agents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97"/>
          <p:cNvSpPr/>
          <p:nvPr/>
        </p:nvSpPr>
        <p:spPr>
          <a:xfrm>
            <a:off x="6675120" y="5029200"/>
            <a:ext cx="475272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Focused context per feature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98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Why VSA is AI-Friendly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98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98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98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98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Isolation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98"/>
          <p:cNvSpPr/>
          <p:nvPr/>
        </p:nvSpPr>
        <p:spPr>
          <a:xfrm>
            <a:off x="960840" y="420624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Each feature is self-contained with clear boundaries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98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98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98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98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98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98"/>
          <p:cNvSpPr/>
          <p:nvPr/>
        </p:nvSpPr>
        <p:spPr>
          <a:xfrm>
            <a:off x="4389120" y="457200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Everything the agent needs, in one place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98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98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98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98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98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Autonomy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98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Work on slices independently without conflicts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9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Parallelizing With Worktrees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99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99"/>
          <p:cNvSpPr/>
          <p:nvPr/>
        </p:nvSpPr>
        <p:spPr>
          <a:xfrm>
            <a:off x="4572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99"/>
          <p:cNvSpPr/>
          <p:nvPr/>
        </p:nvSpPr>
        <p:spPr>
          <a:xfrm>
            <a:off x="457200" y="1920240"/>
            <a:ext cx="530352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What It Buys You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99"/>
          <p:cNvSpPr/>
          <p:nvPr/>
        </p:nvSpPr>
        <p:spPr>
          <a:xfrm>
            <a:off x="731520" y="25603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Same tokens, a fraction of the wall clock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99"/>
          <p:cNvSpPr/>
          <p:nvPr/>
        </p:nvSpPr>
        <p:spPr>
          <a:xfrm>
            <a:off x="731520" y="32461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Each worktree is a real, isolated checkout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99"/>
          <p:cNvSpPr/>
          <p:nvPr/>
        </p:nvSpPr>
        <p:spPr>
          <a:xfrm>
            <a:off x="731520" y="39319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Agents never collide on the same files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99"/>
          <p:cNvSpPr/>
          <p:nvPr/>
        </p:nvSpPr>
        <p:spPr>
          <a:xfrm>
            <a:off x="731520" y="46177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Run a long build and a quick fix at once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99"/>
          <p:cNvSpPr/>
          <p:nvPr/>
        </p:nvSpPr>
        <p:spPr>
          <a:xfrm>
            <a:off x="731520" y="53035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Each branch gets reviewed on its own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99"/>
          <p:cNvSpPr/>
          <p:nvPr/>
        </p:nvSpPr>
        <p:spPr>
          <a:xfrm>
            <a:off x="64008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99"/>
          <p:cNvSpPr/>
          <p:nvPr/>
        </p:nvSpPr>
        <p:spPr>
          <a:xfrm>
            <a:off x="6400800" y="1920240"/>
            <a:ext cx="530352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How to Keep It Sane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99"/>
          <p:cNvSpPr/>
          <p:nvPr/>
        </p:nvSpPr>
        <p:spPr>
          <a:xfrm>
            <a:off x="6675120" y="25603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/worktree-create: one task, one branch each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99"/>
          <p:cNvSpPr/>
          <p:nvPr/>
        </p:nvSpPr>
        <p:spPr>
          <a:xfrm>
            <a:off x="6675120" y="32461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Only parallelize tasks that share no files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99"/>
          <p:cNvSpPr/>
          <p:nvPr/>
        </p:nvSpPr>
        <p:spPr>
          <a:xfrm>
            <a:off x="6675120" y="39319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Copy the env files each checkout needs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99"/>
          <p:cNvSpPr/>
          <p:nvPr/>
        </p:nvSpPr>
        <p:spPr>
          <a:xfrm>
            <a:off x="6675120" y="46177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Validate inside a tree before merging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99"/>
          <p:cNvSpPr/>
          <p:nvPr/>
        </p:nvSpPr>
        <p:spPr>
          <a:xfrm>
            <a:off x="6675120" y="53035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/worktree-merge through one integration branch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00"/>
          <p:cNvSpPr/>
          <p:nvPr/>
        </p:nvSpPr>
        <p:spPr>
          <a:xfrm>
            <a:off x="0" y="0"/>
            <a:ext cx="4112640" cy="685584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100"/>
          <p:cNvSpPr/>
          <p:nvPr/>
        </p:nvSpPr>
        <p:spPr>
          <a:xfrm>
            <a:off x="709200" y="2560320"/>
            <a:ext cx="2694240" cy="100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prime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00"/>
          <p:cNvSpPr/>
          <p:nvPr/>
        </p:nvSpPr>
        <p:spPr>
          <a:xfrm>
            <a:off x="4114800" y="1371600"/>
            <a:ext cx="70920" cy="4112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00"/>
          <p:cNvSpPr/>
          <p:nvPr/>
        </p:nvSpPr>
        <p:spPr>
          <a:xfrm>
            <a:off x="4754880" y="2194560"/>
            <a:ext cx="6855840" cy="7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Focused Priming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100"/>
          <p:cNvSpPr/>
          <p:nvPr/>
        </p:nvSpPr>
        <p:spPr>
          <a:xfrm>
            <a:off x="4754880" y="3657600"/>
            <a:ext cx="685584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Guiding the agent to specific parts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1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Multiple Prime Skills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101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01"/>
          <p:cNvSpPr/>
          <p:nvPr/>
        </p:nvSpPr>
        <p:spPr>
          <a:xfrm>
            <a:off x="45720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01"/>
          <p:cNvSpPr/>
          <p:nvPr/>
        </p:nvSpPr>
        <p:spPr>
          <a:xfrm>
            <a:off x="457200" y="1645920"/>
            <a:ext cx="2611440" cy="89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01"/>
          <p:cNvSpPr/>
          <p:nvPr/>
        </p:nvSpPr>
        <p:spPr>
          <a:xfrm>
            <a:off x="640080" y="21031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/prime-codebase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01"/>
          <p:cNvSpPr/>
          <p:nvPr/>
        </p:nvSpPr>
        <p:spPr>
          <a:xfrm>
            <a:off x="640080" y="3108960"/>
            <a:ext cx="2245680" cy="11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Full codebase understanding - core architecture (doesn’t work great for larger codebases)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01"/>
          <p:cNvSpPr/>
          <p:nvPr/>
        </p:nvSpPr>
        <p:spPr>
          <a:xfrm>
            <a:off x="334512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01"/>
          <p:cNvSpPr/>
          <p:nvPr/>
        </p:nvSpPr>
        <p:spPr>
          <a:xfrm>
            <a:off x="3345120" y="1645920"/>
            <a:ext cx="2611440" cy="89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01"/>
          <p:cNvSpPr/>
          <p:nvPr/>
        </p:nvSpPr>
        <p:spPr>
          <a:xfrm>
            <a:off x="3528000" y="21031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/prime-frontend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01"/>
          <p:cNvSpPr/>
          <p:nvPr/>
        </p:nvSpPr>
        <p:spPr>
          <a:xfrm>
            <a:off x="3528000" y="3108960"/>
            <a:ext cx="2245680" cy="51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Frontend components and styling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101"/>
          <p:cNvSpPr/>
          <p:nvPr/>
        </p:nvSpPr>
        <p:spPr>
          <a:xfrm>
            <a:off x="623304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101"/>
          <p:cNvSpPr/>
          <p:nvPr/>
        </p:nvSpPr>
        <p:spPr>
          <a:xfrm>
            <a:off x="6233040" y="1645920"/>
            <a:ext cx="2611440" cy="892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101"/>
          <p:cNvSpPr/>
          <p:nvPr/>
        </p:nvSpPr>
        <p:spPr>
          <a:xfrm>
            <a:off x="6415920" y="21031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/prime-backend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101"/>
          <p:cNvSpPr/>
          <p:nvPr/>
        </p:nvSpPr>
        <p:spPr>
          <a:xfrm>
            <a:off x="6415920" y="3108960"/>
            <a:ext cx="2245680" cy="51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API routes and backend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01"/>
          <p:cNvSpPr/>
          <p:nvPr/>
        </p:nvSpPr>
        <p:spPr>
          <a:xfrm>
            <a:off x="9120960" y="1645920"/>
            <a:ext cx="2611440" cy="438696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01"/>
          <p:cNvSpPr/>
          <p:nvPr/>
        </p:nvSpPr>
        <p:spPr>
          <a:xfrm>
            <a:off x="9120960" y="1645920"/>
            <a:ext cx="2611440" cy="8928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01"/>
          <p:cNvSpPr/>
          <p:nvPr/>
        </p:nvSpPr>
        <p:spPr>
          <a:xfrm>
            <a:off x="9303840" y="2103120"/>
            <a:ext cx="224568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/prime-db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01"/>
          <p:cNvSpPr/>
          <p:nvPr/>
        </p:nvSpPr>
        <p:spPr>
          <a:xfrm>
            <a:off x="9303840" y="3108960"/>
            <a:ext cx="2245680" cy="51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Build your own per area (database, auth, payments) with /skills-create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2"/>
          <p:cNvSpPr/>
          <p:nvPr/>
        </p:nvSpPr>
        <p:spPr>
          <a:xfrm>
            <a:off x="0" y="36576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Subagent Orchestration Strategies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02"/>
          <p:cNvSpPr/>
          <p:nvPr/>
        </p:nvSpPr>
        <p:spPr>
          <a:xfrm>
            <a:off x="457200" y="1234440"/>
            <a:ext cx="2283840" cy="52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02"/>
          <p:cNvSpPr/>
          <p:nvPr/>
        </p:nvSpPr>
        <p:spPr>
          <a:xfrm>
            <a:off x="4572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02"/>
          <p:cNvSpPr/>
          <p:nvPr/>
        </p:nvSpPr>
        <p:spPr>
          <a:xfrm>
            <a:off x="1773000" y="1920240"/>
            <a:ext cx="266976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Best for Research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102"/>
          <p:cNvSpPr/>
          <p:nvPr/>
        </p:nvSpPr>
        <p:spPr>
          <a:xfrm>
            <a:off x="731520" y="25603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Research can consume many tokens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02"/>
          <p:cNvSpPr/>
          <p:nvPr/>
        </p:nvSpPr>
        <p:spPr>
          <a:xfrm>
            <a:off x="731520" y="32461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Summary is all you need back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102"/>
          <p:cNvSpPr/>
          <p:nvPr/>
        </p:nvSpPr>
        <p:spPr>
          <a:xfrm>
            <a:off x="731520" y="39319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Context isolation prevents pollution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02"/>
          <p:cNvSpPr/>
          <p:nvPr/>
        </p:nvSpPr>
        <p:spPr>
          <a:xfrm>
            <a:off x="731520" y="46177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Parallel research is safe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02"/>
          <p:cNvSpPr/>
          <p:nvPr/>
        </p:nvSpPr>
        <p:spPr>
          <a:xfrm>
            <a:off x="731520" y="53035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Delegate to codebase-analyst, research-agent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02"/>
          <p:cNvSpPr/>
          <p:nvPr/>
        </p:nvSpPr>
        <p:spPr>
          <a:xfrm>
            <a:off x="6400800" y="1645920"/>
            <a:ext cx="5301360" cy="47527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102"/>
          <p:cNvSpPr/>
          <p:nvPr/>
        </p:nvSpPr>
        <p:spPr>
          <a:xfrm>
            <a:off x="7058880" y="1920240"/>
            <a:ext cx="398520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Caution for Implementation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102"/>
          <p:cNvSpPr/>
          <p:nvPr/>
        </p:nvSpPr>
        <p:spPr>
          <a:xfrm>
            <a:off x="6675120" y="25603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Implementation is high-risk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102"/>
          <p:cNvSpPr/>
          <p:nvPr/>
        </p:nvSpPr>
        <p:spPr>
          <a:xfrm>
            <a:off x="6675120" y="32461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Collision opportunities increase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02"/>
          <p:cNvSpPr/>
          <p:nvPr/>
        </p:nvSpPr>
        <p:spPr>
          <a:xfrm>
            <a:off x="6675120" y="39319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Main agent needs full file context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102"/>
          <p:cNvSpPr/>
          <p:nvPr/>
        </p:nvSpPr>
        <p:spPr>
          <a:xfrm>
            <a:off x="6675120" y="46177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Tests require understanding impact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02"/>
          <p:cNvSpPr/>
          <p:nvPr/>
        </p:nvSpPr>
        <p:spPr>
          <a:xfrm>
            <a:off x="6675120" y="5303520"/>
            <a:ext cx="4752720" cy="3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Keep implementation in main agent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3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03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Component Sizing Guidelines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03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03"/>
          <p:cNvSpPr/>
          <p:nvPr/>
        </p:nvSpPr>
        <p:spPr>
          <a:xfrm>
            <a:off x="548640" y="196596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03"/>
          <p:cNvSpPr/>
          <p:nvPr/>
        </p:nvSpPr>
        <p:spPr>
          <a:xfrm>
            <a:off x="914400" y="182880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It's about coupling, not lines of code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03"/>
          <p:cNvSpPr/>
          <p:nvPr/>
        </p:nvSpPr>
        <p:spPr>
          <a:xfrm>
            <a:off x="548640" y="306324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03"/>
          <p:cNvSpPr/>
          <p:nvPr/>
        </p:nvSpPr>
        <p:spPr>
          <a:xfrm>
            <a:off x="914400" y="292608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Can you work on it in isolation?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03"/>
          <p:cNvSpPr/>
          <p:nvPr/>
        </p:nvSpPr>
        <p:spPr>
          <a:xfrm>
            <a:off x="548640" y="416052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03"/>
          <p:cNvSpPr/>
          <p:nvPr/>
        </p:nvSpPr>
        <p:spPr>
          <a:xfrm>
            <a:off x="914400" y="402336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Does the agent have clear boundaries?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03"/>
          <p:cNvSpPr/>
          <p:nvPr/>
        </p:nvSpPr>
        <p:spPr>
          <a:xfrm>
            <a:off x="548640" y="525780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03"/>
          <p:cNvSpPr/>
          <p:nvPr/>
        </p:nvSpPr>
        <p:spPr>
          <a:xfrm>
            <a:off x="914400" y="512064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Smaller, focused components = better AI results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04"/>
          <p:cNvSpPr/>
          <p:nvPr/>
        </p:nvSpPr>
        <p:spPr>
          <a:xfrm>
            <a:off x="0" y="457200"/>
            <a:ext cx="12192000" cy="6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04"/>
          <p:cNvSpPr/>
          <p:nvPr/>
        </p:nvSpPr>
        <p:spPr>
          <a:xfrm>
            <a:off x="868680" y="19659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04"/>
          <p:cNvSpPr/>
          <p:nvPr/>
        </p:nvSpPr>
        <p:spPr>
          <a:xfrm>
            <a:off x="731520" y="182880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04"/>
          <p:cNvSpPr/>
          <p:nvPr/>
        </p:nvSpPr>
        <p:spPr>
          <a:xfrm>
            <a:off x="1005840" y="2103120"/>
            <a:ext cx="72936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04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04"/>
          <p:cNvSpPr/>
          <p:nvPr/>
        </p:nvSpPr>
        <p:spPr>
          <a:xfrm>
            <a:off x="1005840" y="320040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Build Your AI Layer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04"/>
          <p:cNvSpPr/>
          <p:nvPr/>
        </p:nvSpPr>
        <p:spPr>
          <a:xfrm>
            <a:off x="1005840" y="4206240"/>
            <a:ext cx="3289680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Rules, context, skills and hooks compound over time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04"/>
          <p:cNvSpPr/>
          <p:nvPr/>
        </p:nvSpPr>
        <p:spPr>
          <a:xfrm>
            <a:off x="4251960" y="23317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04"/>
          <p:cNvSpPr/>
          <p:nvPr/>
        </p:nvSpPr>
        <p:spPr>
          <a:xfrm>
            <a:off x="4114800" y="219456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04"/>
          <p:cNvSpPr/>
          <p:nvPr/>
        </p:nvSpPr>
        <p:spPr>
          <a:xfrm>
            <a:off x="4389120" y="2468880"/>
            <a:ext cx="729360" cy="107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04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04"/>
          <p:cNvSpPr/>
          <p:nvPr/>
        </p:nvSpPr>
        <p:spPr>
          <a:xfrm>
            <a:off x="4389120" y="356616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PRD Then R-PIV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04"/>
          <p:cNvSpPr/>
          <p:nvPr/>
        </p:nvSpPr>
        <p:spPr>
          <a:xfrm>
            <a:off x="4389120" y="457200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PRD to tickets, then plan, implement and validate each one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04"/>
          <p:cNvSpPr/>
          <p:nvPr/>
        </p:nvSpPr>
        <p:spPr>
          <a:xfrm>
            <a:off x="7635240" y="178308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11111B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04"/>
          <p:cNvSpPr/>
          <p:nvPr/>
        </p:nvSpPr>
        <p:spPr>
          <a:xfrm>
            <a:off x="7498080" y="1645920"/>
            <a:ext cx="3838320" cy="36554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104"/>
          <p:cNvSpPr/>
          <p:nvPr/>
        </p:nvSpPr>
        <p:spPr>
          <a:xfrm>
            <a:off x="7772400" y="1920240"/>
            <a:ext cx="729360" cy="107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104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04"/>
          <p:cNvSpPr/>
          <p:nvPr/>
        </p:nvSpPr>
        <p:spPr>
          <a:xfrm>
            <a:off x="7772400" y="3017520"/>
            <a:ext cx="3289680" cy="3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Evolve the System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04"/>
          <p:cNvSpPr/>
          <p:nvPr/>
        </p:nvSpPr>
        <p:spPr>
          <a:xfrm>
            <a:off x="7772400" y="4023360"/>
            <a:ext cx="3289680" cy="5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Every bug is an opportunity to improve your AI layer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05"/>
          <p:cNvSpPr/>
          <p:nvPr/>
        </p:nvSpPr>
        <p:spPr>
          <a:xfrm>
            <a:off x="0" y="0"/>
            <a:ext cx="70920" cy="6856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05"/>
          <p:cNvSpPr/>
          <p:nvPr/>
        </p:nvSpPr>
        <p:spPr>
          <a:xfrm>
            <a:off x="0" y="457200"/>
            <a:ext cx="12192000" cy="6386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Take-Home: Build on an AI-Optimized Codebase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105"/>
          <p:cNvSpPr/>
          <p:nvPr/>
        </p:nvSpPr>
        <p:spPr>
          <a:xfrm>
            <a:off x="548640" y="1371600"/>
            <a:ext cx="2284560" cy="53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05"/>
          <p:cNvSpPr/>
          <p:nvPr/>
        </p:nvSpPr>
        <p:spPr>
          <a:xfrm>
            <a:off x="548640" y="1828800"/>
            <a:ext cx="10971360" cy="39168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Clone the AI-optimized starter and build something: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05"/>
          <p:cNvSpPr/>
          <p:nvPr/>
        </p:nvSpPr>
        <p:spPr>
          <a:xfrm>
            <a:off x="548640" y="256032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https://github.com/dynamous-business/nextjs-ai-optimized-codebase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105"/>
          <p:cNvSpPr/>
          <p:nvPr/>
        </p:nvSpPr>
        <p:spPr>
          <a:xfrm>
            <a:off x="548640" y="310896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cd nextjs-ai-optimized-codebase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05"/>
          <p:cNvSpPr/>
          <p:nvPr/>
        </p:nvSpPr>
        <p:spPr>
          <a:xfrm>
            <a:off x="549000" y="37490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Needs Bun and a free Supabase project: follow its README Quick Start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105"/>
          <p:cNvSpPr/>
          <p:nvPr/>
        </p:nvSpPr>
        <p:spPr>
          <a:xfrm>
            <a:off x="549000" y="42062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Copy .claude/ from the resources repo into it, so today’s skills come along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05"/>
          <p:cNvSpPr/>
          <p:nvPr/>
        </p:nvSpPr>
        <p:spPr>
          <a:xfrm>
            <a:off x="549000" y="46634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/plan-create-prd, then /plan-architecture, then /rules-create-global with both docs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105"/>
          <p:cNvSpPr/>
          <p:nvPr/>
        </p:nvSpPr>
        <p:spPr>
          <a:xfrm>
            <a:off x="549000" y="5120640"/>
            <a:ext cx="1097136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• Run the full R-PIV loop we covered (iterate multiple times)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05"/>
          <p:cNvSpPr/>
          <p:nvPr/>
        </p:nvSpPr>
        <p:spPr>
          <a:xfrm>
            <a:off x="548640" y="5669280"/>
            <a:ext cx="10971360" cy="9129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105"/>
          <p:cNvSpPr/>
          <p:nvPr/>
        </p:nvSpPr>
        <p:spPr>
          <a:xfrm>
            <a:off x="823320" y="5943600"/>
            <a:ext cx="10422720" cy="36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Goal: Build any feature using PRD → Rules → R-PIV Loops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106"/>
          <p:cNvSpPr/>
          <p:nvPr/>
        </p:nvSpPr>
        <p:spPr>
          <a:xfrm>
            <a:off x="0" y="0"/>
            <a:ext cx="70920" cy="68558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06"/>
          <p:cNvSpPr/>
          <p:nvPr/>
        </p:nvSpPr>
        <p:spPr>
          <a:xfrm>
            <a:off x="0" y="457200"/>
            <a:ext cx="121920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Beyond This Masterclass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06"/>
          <p:cNvSpPr/>
          <p:nvPr/>
        </p:nvSpPr>
        <p:spPr>
          <a:xfrm>
            <a:off x="548640" y="1371600"/>
            <a:ext cx="2283840" cy="525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106"/>
          <p:cNvSpPr/>
          <p:nvPr/>
        </p:nvSpPr>
        <p:spPr>
          <a:xfrm>
            <a:off x="548640" y="196596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106"/>
          <p:cNvSpPr/>
          <p:nvPr/>
        </p:nvSpPr>
        <p:spPr>
          <a:xfrm>
            <a:off x="914400" y="182880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Run one real ticket through R-PIV on Monday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106"/>
          <p:cNvSpPr/>
          <p:nvPr/>
        </p:nvSpPr>
        <p:spPr>
          <a:xfrm>
            <a:off x="548640" y="306324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106"/>
          <p:cNvSpPr/>
          <p:nvPr/>
        </p:nvSpPr>
        <p:spPr>
          <a:xfrm>
            <a:off x="914400" y="292608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Copy the AI Layer from the goto-copenhagen-masterclass-resources repo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106"/>
          <p:cNvSpPr/>
          <p:nvPr/>
        </p:nvSpPr>
        <p:spPr>
          <a:xfrm>
            <a:off x="548640" y="416052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106"/>
          <p:cNvSpPr/>
          <p:nvPr/>
        </p:nvSpPr>
        <p:spPr>
          <a:xfrm>
            <a:off x="914400" y="402336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Run one /opportunity-scan and encode what it finds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106"/>
          <p:cNvSpPr/>
          <p:nvPr/>
        </p:nvSpPr>
        <p:spPr>
          <a:xfrm>
            <a:off x="548640" y="5257800"/>
            <a:ext cx="107640" cy="10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06"/>
          <p:cNvSpPr/>
          <p:nvPr/>
        </p:nvSpPr>
        <p:spPr>
          <a:xfrm>
            <a:off x="914400" y="5120640"/>
            <a:ext cx="105134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Integrate AI into your CI/CD pipeline for automated review and security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90F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07"/>
          <p:cNvSpPr/>
          <p:nvPr/>
        </p:nvSpPr>
        <p:spPr>
          <a:xfrm>
            <a:off x="0" y="0"/>
            <a:ext cx="12189600" cy="135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107"/>
          <p:cNvSpPr/>
          <p:nvPr/>
        </p:nvSpPr>
        <p:spPr>
          <a:xfrm>
            <a:off x="427680" y="1738800"/>
            <a:ext cx="11275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107"/>
          <p:cNvSpPr/>
          <p:nvPr/>
        </p:nvSpPr>
        <p:spPr>
          <a:xfrm>
            <a:off x="457200" y="3293280"/>
            <a:ext cx="11277295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Questions &amp; Discussion - GOTO Copenhagen 2026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07"/>
          <p:cNvSpPr/>
          <p:nvPr/>
        </p:nvSpPr>
        <p:spPr>
          <a:xfrm>
            <a:off x="2157480" y="4482000"/>
            <a:ext cx="78210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cole@dynamous.ai | Dynamous AI Community – https://dynamous.ai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0A5F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0A5F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60A5FA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0A5F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